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nhấn ngay điểm khác biệt lớn nhất — đây không phải ý tưởng, hệ thống đang chạy thật với người dùng thật từ 2025. Ban tổ chức tuyên bố rõ là tìm giải pháp thực chiến, không tìm ý tưởng trên giấy.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nói "OCR là gì". Nói về khoảng trống mà mọi chương trình chuyển đổi số bỏ qua: scan xong coi như xong, nhưng file ảnh không dùng được. Cần điền số liệu thật vào phần footer trước khi trình bày.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bước 4. Nếu giám khảo hỏi về rủi ro AI bịa dữ liệu, đây là câu trả lời sẵn. Không bao giờ định vị sản phẩm là "tự động hoàn toàn" — luôn là "hỗ trợ, con người quyết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bị hỏi về quy mô: thừa nhận thẳng kiến trúc hiện tại phù hợp quy mô hàng nghìn tài liệu; nêu đường nâng cấp sang trình điều phối container khi có nhu cầu thật. Tối ưu trước khi có nhu cầu là lãng phí — câu này thể hiện kỷ luật kỹ thuật.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nhất về mặt lập luận. BA CÂU HỎI CHUẨN BỊ SẴN: (1) "Mô hình mở có chính xác bằng đám mây không?" - trả lời trung thực rằng đang đo; với tài liệu nhạy cảm đây là lựa chọn DUY NHẤT HỢP PHÁP, không phải lựa chọn tối ưu. (2) "Dùng công cụ gì để chạy mô hình?" - trả lời: đó là lớp hạ tầng thay thế được bằng cấu hình; giai đoạn kiểm chứng chọn công cụ dựng nhanh nhất vì mục tiêu là có số liệu, không phải tối ưu. KHÔNG liệt kê ưu điểm của một công cụ cụ thể - đó là bẫy, lộ ra rằng mình coi việc chọn công cụ là quyết định kiến trúc và sẽ bị khóa vào đó. (3) "Đã làm được chưa?" - trả lời thẳng: chưa, đây là đề xuất, chưa có mã. Nếu đã có số liệu đo thì thay dòng cuối slide bằng bảng so sánh thật. TUYỆT ĐỐI không nói như đã xong.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quan trọng nhất. Bốn ô số liệu PHẢI điền trước khi trình bày — nếu để trống thì bỏ slide này đi còn hơn. Giám khảo sẽ hỏi "ai đo, đo thế nào" — chuẩn bị sẵn câu trả lời về cỡ mẫu và cách chọn mẫu.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Cần điền số liệu định lượng vào cột Kinh tế. Cột Môi trường cố ý ngắn hơn — không phóng đại. Việc tự tiết chế ở đây tạo độ tin cậy cho phần còn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giám khảo hỏi "đội 4 người phục vụ được bao nhiêu đơn vị một năm" — đây là câu hỏi về ranh giới sản phẩm/dịch vụ. Trả lời: giao diện tự định nghĩa lược đồ là hạng mục ưu tiên cao nhất trong lộ trình, chính là để gỡ nút thắt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là vũ khí. Hội đồng có kinh nghiệm biết không có sản phẩm nào hoàn hảo — đội không thấy điểm yếu là đội chưa đi đủ sâu. Nêu trước khi bị hỏi sẽ chuyển thế từ phòng thủ sang chủ động.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Trước khi trình bày slide này, cần đã làm rõ với Ban tổ chức cách hiểu về cam kết 6 tháng: triển khai nội bộ có được tính không, hay bắt buộc phải ở đơn vị bên ngoài.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Cần điền thông tin hai thành viên còn lại (ô màu vàng). Ba ô "Vì sao đội này" là câu trả lời chuẩn bị sẵn cho chất vấn về năng lực đội ngũ bán thời gian.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8778240" y="-1645920"/>
            <a:ext cx="5669280" cy="5669280"/>
          </a:xfrm>
          <a:prstGeom prst="ellipse">
            <a:avLst/>
          </a:prstGeom>
          <a:solidFill>
            <a:srgbClr val="065A82">
              <a:alpha val="55000"/>
            </a:srgbClr>
          </a:solidFill>
          <a:ln/>
        </p:spPr>
      </p:sp>
      <p:sp>
        <p:nvSpPr>
          <p:cNvPr id="3" name="Shape 1"/>
          <p:cNvSpPr/>
          <p:nvPr/>
        </p:nvSpPr>
        <p:spPr>
          <a:xfrm>
            <a:off x="10241280" y="3291840"/>
            <a:ext cx="4023360" cy="4023360"/>
          </a:xfrm>
          <a:prstGeom prst="ellipse">
            <a:avLst/>
          </a:prstGeom>
          <a:solidFill>
            <a:srgbClr val="1C7293">
              <a:alpha val="40000"/>
            </a:srgbClr>
          </a:solidFill>
          <a:ln/>
        </p:spPr>
      </p:sp>
      <p:sp>
        <p:nvSpPr>
          <p:cNvPr id="4" name="Text 2"/>
          <p:cNvSpPr/>
          <p:nvPr/>
        </p:nvSpPr>
        <p:spPr>
          <a:xfrm>
            <a:off x="731520" y="685800"/>
            <a:ext cx="7863840" cy="274320"/>
          </a:xfrm>
          <a:prstGeom prst="rect">
            <a:avLst/>
          </a:prstGeom>
          <a:noFill/>
          <a:ln/>
        </p:spPr>
        <p:txBody>
          <a:bodyPr wrap="square" lIns="0" tIns="0" rIns="0" bIns="0" rtlCol="0" anchor="ctr"/>
          <a:lstStyle/>
          <a:p>
            <a:pPr indent="0" marL="0">
              <a:buNone/>
            </a:pPr>
            <a:r>
              <a:rPr lang="en-US" sz="1150" b="1" spc="120" kern="0" dirty="0">
                <a:solidFill>
                  <a:srgbClr val="8FB6C9"/>
                </a:solidFill>
                <a:latin typeface="Calibri" pitchFamily="34" charset="0"/>
                <a:ea typeface="Calibri" pitchFamily="34" charset="-122"/>
                <a:cs typeface="Calibri" pitchFamily="34" charset="-120"/>
              </a:rPr>
              <a:t>TRƯỜNG ĐẠI HỌC QUẢN LÝ VÀ CÔNG NGHỆ HẢI PHÒNG</a:t>
            </a:r>
            <a:endParaRPr lang="en-US" sz="1150" dirty="0"/>
          </a:p>
        </p:txBody>
      </p:sp>
      <p:sp>
        <p:nvSpPr>
          <p:cNvPr id="5" name="Text 3"/>
          <p:cNvSpPr/>
          <p:nvPr/>
        </p:nvSpPr>
        <p:spPr>
          <a:xfrm>
            <a:off x="731520" y="987552"/>
            <a:ext cx="7863840" cy="274320"/>
          </a:xfrm>
          <a:prstGeom prst="rect">
            <a:avLst/>
          </a:prstGeom>
          <a:noFill/>
          <a:ln/>
        </p:spPr>
        <p:txBody>
          <a:bodyPr wrap="square" lIns="0" tIns="0" rIns="0" bIns="0" rtlCol="0" anchor="ctr"/>
          <a:lstStyle/>
          <a:p>
            <a:pPr indent="0" marL="0">
              <a:buNone/>
            </a:pPr>
            <a:r>
              <a:rPr lang="en-US" sz="1100" dirty="0">
                <a:solidFill>
                  <a:srgbClr val="6E93A6"/>
                </a:solidFill>
                <a:latin typeface="Calibri" pitchFamily="34" charset="0"/>
                <a:ea typeface="Calibri" pitchFamily="34" charset="-122"/>
                <a:cs typeface="Calibri" pitchFamily="34" charset="-120"/>
              </a:rPr>
              <a:t>Trung tâm Hỗ trợ Khởi nghiệp và Đổi mới sáng tạo (SCEI)</a:t>
            </a:r>
            <a:endParaRPr lang="en-US" sz="1100" dirty="0"/>
          </a:p>
        </p:txBody>
      </p:sp>
      <p:sp>
        <p:nvSpPr>
          <p:cNvPr id="6" name="Text 4"/>
          <p:cNvSpPr/>
          <p:nvPr/>
        </p:nvSpPr>
        <p:spPr>
          <a:xfrm>
            <a:off x="731520" y="1828800"/>
            <a:ext cx="786384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DocuFlow HP</a:t>
            </a:r>
            <a:endParaRPr lang="en-US" sz="5400" dirty="0"/>
          </a:p>
        </p:txBody>
      </p:sp>
      <p:sp>
        <p:nvSpPr>
          <p:cNvPr id="7" name="Text 5"/>
          <p:cNvSpPr/>
          <p:nvPr/>
        </p:nvSpPr>
        <p:spPr>
          <a:xfrm>
            <a:off x="731520" y="2834640"/>
            <a:ext cx="7680960" cy="822960"/>
          </a:xfrm>
          <a:prstGeom prst="rect">
            <a:avLst/>
          </a:prstGeom>
          <a:noFill/>
          <a:ln/>
        </p:spPr>
        <p:txBody>
          <a:bodyPr wrap="square" lIns="0" tIns="0" rIns="0" bIns="0" rtlCol="0" anchor="ctr"/>
          <a:lstStyle/>
          <a:p>
            <a:pPr indent="0" marL="0">
              <a:lnSpc>
                <a:spcPts val="2600"/>
              </a:lnSpc>
              <a:buNone/>
            </a:pPr>
            <a:r>
              <a:rPr lang="en-US" sz="1700" dirty="0">
                <a:solidFill>
                  <a:srgbClr val="CADCFC"/>
                </a:solidFill>
                <a:latin typeface="Calibri" pitchFamily="34" charset="0"/>
                <a:ea typeface="Calibri" pitchFamily="34" charset="-122"/>
                <a:cs typeface="Calibri" pitchFamily="34" charset="-120"/>
              </a:rPr>
              <a:t>Nền tảng số hóa và trích xuất dữ liệu tự động</a:t>
            </a:r>
            <a:endParaRPr lang="en-US" sz="1700" dirty="0"/>
          </a:p>
          <a:p>
            <a:pPr indent="0" marL="0">
              <a:lnSpc>
                <a:spcPts val="2600"/>
              </a:lnSpc>
              <a:buNone/>
            </a:pPr>
            <a:r>
              <a:rPr lang="en-US" sz="1700" dirty="0">
                <a:solidFill>
                  <a:srgbClr val="CADCFC"/>
                </a:solidFill>
                <a:latin typeface="Calibri" pitchFamily="34" charset="0"/>
                <a:ea typeface="Calibri" pitchFamily="34" charset="-122"/>
                <a:cs typeface="Calibri" pitchFamily="34" charset="-120"/>
              </a:rPr>
              <a:t>từ hồ sơ, tài liệu giấy bằng trí tuệ nhân tạo</a:t>
            </a:r>
            <a:endParaRPr lang="en-US" sz="1700" dirty="0"/>
          </a:p>
        </p:txBody>
      </p:sp>
      <p:sp>
        <p:nvSpPr>
          <p:cNvPr id="8" name="Shape 6"/>
          <p:cNvSpPr/>
          <p:nvPr/>
        </p:nvSpPr>
        <p:spPr>
          <a:xfrm>
            <a:off x="731520" y="3977640"/>
            <a:ext cx="4206240" cy="420624"/>
          </a:xfrm>
          <a:prstGeom prst="roundRect">
            <a:avLst>
              <a:gd name="adj" fmla="val 50000"/>
            </a:avLst>
          </a:prstGeom>
          <a:solidFill>
            <a:srgbClr val="1C7293"/>
          </a:solidFill>
          <a:ln/>
        </p:spPr>
      </p:sp>
      <p:sp>
        <p:nvSpPr>
          <p:cNvPr id="9" name="Text 7"/>
          <p:cNvSpPr/>
          <p:nvPr/>
        </p:nvSpPr>
        <p:spPr>
          <a:xfrm>
            <a:off x="731520" y="3977640"/>
            <a:ext cx="4206240" cy="42062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ĐÃ TRIỂN KHAI – ĐANG VẬN HÀNH THỰC TẾ</a:t>
            </a:r>
            <a:endParaRPr lang="en-US" sz="1050" dirty="0"/>
          </a:p>
        </p:txBody>
      </p:sp>
      <p:sp>
        <p:nvSpPr>
          <p:cNvPr id="10" name="Text 8"/>
          <p:cNvSpPr/>
          <p:nvPr/>
        </p:nvSpPr>
        <p:spPr>
          <a:xfrm>
            <a:off x="731520" y="4937760"/>
            <a:ext cx="7863840" cy="1005840"/>
          </a:xfrm>
          <a:prstGeom prst="rect">
            <a:avLst/>
          </a:prstGeom>
          <a:noFill/>
          <a:ln/>
        </p:spPr>
        <p:txBody>
          <a:bodyPr wrap="square" lIns="0" tIns="0" rIns="0" bIns="0" rtlCol="0" anchor="ctr"/>
          <a:lstStyle/>
          <a:p>
            <a:pPr indent="0" marL="0">
              <a:lnSpc>
                <a:spcPts val="2000"/>
              </a:lnSpc>
              <a:buNone/>
            </a:pPr>
            <a:r>
              <a:rPr lang="en-US" sz="1250" b="1" dirty="0">
                <a:solidFill>
                  <a:srgbClr val="CADCFC"/>
                </a:solidFill>
                <a:latin typeface="Calibri" pitchFamily="34" charset="0"/>
                <a:ea typeface="Calibri" pitchFamily="34" charset="-122"/>
                <a:cs typeface="Calibri" pitchFamily="34" charset="-120"/>
              </a:rPr>
              <a:t>Cuộc thi Tìm kiếm tài năng khởi nghiệp sáng tạo thành phố Hải Phòng 2026
</a:t>
            </a:r>
            <a:pPr indent="0" marL="0">
              <a:lnSpc>
                <a:spcPts val="2000"/>
              </a:lnSpc>
              <a:buNone/>
            </a:pPr>
            <a:r>
              <a:rPr lang="en-US" sz="1250" dirty="0">
                <a:solidFill>
                  <a:srgbClr val="CADCFC"/>
                </a:solidFill>
                <a:latin typeface="Calibri" pitchFamily="34" charset="0"/>
                <a:ea typeface="Calibri" pitchFamily="34" charset="-122"/>
                <a:cs typeface="Calibri" pitchFamily="34" charset="-120"/>
              </a:rPr>
              <a:t>Chủ đề "Smart City Operations" – Vận hành thành phố thông minh
</a:t>
            </a:r>
            <a:pPr indent="0" marL="0">
              <a:lnSpc>
                <a:spcPts val="2000"/>
              </a:lnSpc>
              <a:buNone/>
            </a:pPr>
            <a:r>
              <a:rPr lang="en-US" sz="1250" dirty="0">
                <a:solidFill>
                  <a:srgbClr val="8FB6C9"/>
                </a:solidFill>
                <a:latin typeface="Calibri" pitchFamily="34" charset="0"/>
                <a:ea typeface="Calibri" pitchFamily="34" charset="-122"/>
                <a:cs typeface="Calibri" pitchFamily="34" charset="-120"/>
              </a:rPr>
              <a:t>Lĩnh vực 3: Quản trị đô thị thông minh</a:t>
            </a:r>
            <a:endParaRPr lang="en-US" sz="1250" dirty="0"/>
          </a:p>
        </p:txBody>
      </p:sp>
      <p:sp>
        <p:nvSpPr>
          <p:cNvPr id="11" name="Text 9"/>
          <p:cNvSpPr/>
          <p:nvPr/>
        </p:nvSpPr>
        <p:spPr>
          <a:xfrm>
            <a:off x="731520" y="6126480"/>
            <a:ext cx="4572000" cy="274320"/>
          </a:xfrm>
          <a:prstGeom prst="rect">
            <a:avLst/>
          </a:prstGeom>
          <a:noFill/>
          <a:ln/>
        </p:spPr>
        <p:txBody>
          <a:bodyPr wrap="square" lIns="0" tIns="0" rIns="0" bIns="0" rtlCol="0" anchor="ctr"/>
          <a:lstStyle/>
          <a:p>
            <a:pPr indent="0" marL="0">
              <a:buNone/>
            </a:pPr>
            <a:r>
              <a:rPr lang="en-US" sz="1050" i="1" dirty="0">
                <a:solidFill>
                  <a:srgbClr val="6E93A6"/>
                </a:solidFill>
                <a:latin typeface="Calibri" pitchFamily="34" charset="0"/>
                <a:ea typeface="Calibri" pitchFamily="34" charset="-122"/>
                <a:cs typeface="Calibri" pitchFamily="34" charset="-120"/>
              </a:rPr>
              <a:t>Hải Phòng, tháng 7/2026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01</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Vấn đề: dữ liệu đô thị đang bị khóa trong giấy</a:t>
            </a:r>
            <a:endParaRPr lang="en-US" sz="3000" dirty="0"/>
          </a:p>
        </p:txBody>
      </p:sp>
      <p:sp>
        <p:nvSpPr>
          <p:cNvPr id="4" name="Text 2"/>
          <p:cNvSpPr/>
          <p:nvPr/>
        </p:nvSpPr>
        <p:spPr>
          <a:xfrm>
            <a:off x="502920" y="1371600"/>
            <a:ext cx="11155680" cy="640080"/>
          </a:xfrm>
          <a:prstGeom prst="rect">
            <a:avLst/>
          </a:prstGeom>
          <a:noFill/>
          <a:ln/>
        </p:spPr>
        <p:txBody>
          <a:bodyPr wrap="square" lIns="0" tIns="0" rIns="0" bIns="0" rtlCol="0" anchor="ctr"/>
          <a:lstStyle/>
          <a:p>
            <a:pPr indent="0" marL="0">
              <a:lnSpc>
                <a:spcPts val="2200"/>
              </a:lnSpc>
              <a:buNone/>
            </a:pPr>
            <a:r>
              <a:rPr lang="en-US" sz="1400" dirty="0">
                <a:solidFill>
                  <a:srgbClr val="3C4A52"/>
                </a:solidFill>
                <a:latin typeface="Calibri" pitchFamily="34" charset="0"/>
                <a:ea typeface="Calibri" pitchFamily="34" charset="-122"/>
                <a:cs typeface="Calibri" pitchFamily="34" charset="-120"/>
              </a:rPr>
              <a:t>Quản trị đô thị thông minh vận hành trên dữ liệu số. Nhưng phần lớn thông tin phục vụ quản lý vẫn nằm trong công văn, quyết định, hồ sơ thủ tục, chứng từ — dưới dạng giấy hoặc file scan không đọc được.</a:t>
            </a:r>
            <a:endParaRPr lang="en-US" sz="1400" dirty="0"/>
          </a:p>
        </p:txBody>
      </p:sp>
      <p:sp>
        <p:nvSpPr>
          <p:cNvPr id="5" name="Shape 3"/>
          <p:cNvSpPr/>
          <p:nvPr/>
        </p:nvSpPr>
        <p:spPr>
          <a:xfrm>
            <a:off x="502920" y="2148840"/>
            <a:ext cx="5394960" cy="1371600"/>
          </a:xfrm>
          <a:prstGeom prst="roundRect">
            <a:avLst>
              <a:gd name="adj" fmla="val 4667"/>
            </a:avLst>
          </a:prstGeom>
          <a:solidFill>
            <a:srgbClr val="E8F1F5"/>
          </a:solidFill>
          <a:ln/>
          <a:effectLst>
            <a:outerShdw sx="100000" sy="100000" kx="0" ky="0" algn="bl" rotWithShape="0" blurRad="76200" dist="19050" dir="5400000">
              <a:srgbClr val="9AAAB5">
                <a:alpha val="30000"/>
              </a:srgbClr>
            </a:outerShdw>
          </a:effectLst>
        </p:spPr>
      </p:sp>
      <p:sp>
        <p:nvSpPr>
          <p:cNvPr id="6" name="Text 4"/>
          <p:cNvSpPr/>
          <p:nvPr/>
        </p:nvSpPr>
        <p:spPr>
          <a:xfrm>
            <a:off x="777240" y="2304288"/>
            <a:ext cx="4846320" cy="27432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Nghịch lý của "đã số hóa"</a:t>
            </a:r>
            <a:endParaRPr lang="en-US" sz="1500" dirty="0"/>
          </a:p>
        </p:txBody>
      </p:sp>
      <p:sp>
        <p:nvSpPr>
          <p:cNvPr id="7" name="Text 5"/>
          <p:cNvSpPr/>
          <p:nvPr/>
        </p:nvSpPr>
        <p:spPr>
          <a:xfrm>
            <a:off x="777240" y="2615184"/>
            <a:ext cx="4846320" cy="777240"/>
          </a:xfrm>
          <a:prstGeom prst="rect">
            <a:avLst/>
          </a:prstGeom>
          <a:noFill/>
          <a:ln/>
        </p:spPr>
        <p:txBody>
          <a:bodyPr wrap="square" lIns="0" tIns="0" rIns="0" bIns="0" rtlCol="0" anchor="ctr"/>
          <a:lstStyle/>
          <a:p>
            <a:pPr indent="0" marL="0">
              <a:lnSpc>
                <a:spcPts val="1700"/>
              </a:lnSpc>
              <a:buNone/>
            </a:pPr>
            <a:r>
              <a:rPr lang="en-US" sz="1150" dirty="0">
                <a:solidFill>
                  <a:srgbClr val="4A5A64"/>
                </a:solidFill>
                <a:latin typeface="Calibri" pitchFamily="34" charset="0"/>
                <a:ea typeface="Calibri" pitchFamily="34" charset="-122"/>
                <a:cs typeface="Calibri" pitchFamily="34" charset="-120"/>
              </a:rPr>
              <a:t>Tài liệu đã nằm trong máy tính dưới dạng PDF — về hình thức là "đã số hóa". Nhưng bản chất vẫn là ảnh: không tìm kiếm được, không thống kê được, không phân tích được.</a:t>
            </a:r>
            <a:endParaRPr lang="en-US" sz="1150" dirty="0"/>
          </a:p>
        </p:txBody>
      </p:sp>
      <p:sp>
        <p:nvSpPr>
          <p:cNvPr id="8" name="Shape 6"/>
          <p:cNvSpPr/>
          <p:nvPr/>
        </p:nvSpPr>
        <p:spPr>
          <a:xfrm>
            <a:off x="6263640" y="2148840"/>
            <a:ext cx="5394960" cy="1371600"/>
          </a:xfrm>
          <a:prstGeom prst="roundRect">
            <a:avLst>
              <a:gd name="adj" fmla="val 4667"/>
            </a:avLst>
          </a:prstGeom>
          <a:solidFill>
            <a:srgbClr val="E8F1F5"/>
          </a:solidFill>
          <a:ln/>
          <a:effectLst>
            <a:outerShdw sx="100000" sy="100000" kx="0" ky="0" algn="bl" rotWithShape="0" blurRad="76200" dist="19050" dir="5400000">
              <a:srgbClr val="9AAAB5">
                <a:alpha val="30000"/>
              </a:srgbClr>
            </a:outerShdw>
          </a:effectLst>
        </p:spPr>
      </p:sp>
      <p:sp>
        <p:nvSpPr>
          <p:cNvPr id="9" name="Text 7"/>
          <p:cNvSpPr/>
          <p:nvPr/>
        </p:nvSpPr>
        <p:spPr>
          <a:xfrm>
            <a:off x="6537960" y="2304288"/>
            <a:ext cx="4846320" cy="27432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Hệ quả với thành phố thông minh</a:t>
            </a:r>
            <a:endParaRPr lang="en-US" sz="1500" dirty="0"/>
          </a:p>
        </p:txBody>
      </p:sp>
      <p:sp>
        <p:nvSpPr>
          <p:cNvPr id="10" name="Text 8"/>
          <p:cNvSpPr/>
          <p:nvPr/>
        </p:nvSpPr>
        <p:spPr>
          <a:xfrm>
            <a:off x="6537960" y="2615184"/>
            <a:ext cx="4846320" cy="777240"/>
          </a:xfrm>
          <a:prstGeom prst="rect">
            <a:avLst/>
          </a:prstGeom>
          <a:noFill/>
          <a:ln/>
        </p:spPr>
        <p:txBody>
          <a:bodyPr wrap="square" lIns="0" tIns="0" rIns="0" bIns="0" rtlCol="0" anchor="ctr"/>
          <a:lstStyle/>
          <a:p>
            <a:pPr indent="0" marL="0">
              <a:lnSpc>
                <a:spcPts val="1700"/>
              </a:lnSpc>
              <a:buNone/>
            </a:pPr>
            <a:r>
              <a:rPr lang="en-US" sz="1150" dirty="0">
                <a:solidFill>
                  <a:srgbClr val="4A5A64"/>
                </a:solidFill>
                <a:latin typeface="Calibri" pitchFamily="34" charset="0"/>
                <a:ea typeface="Calibri" pitchFamily="34" charset="-122"/>
                <a:cs typeface="Calibri" pitchFamily="34" charset="-120"/>
              </a:rPr>
              <a:t>Mọi hệ thống thông minh xây phía trên đều thiếu dữ liệu đầu vào — hoặc phải nhập tay, làm mất chính lợi ích mà chúng hứa hẹn.</a:t>
            </a:r>
            <a:endParaRPr lang="en-US" sz="1150" dirty="0"/>
          </a:p>
        </p:txBody>
      </p:sp>
      <p:sp>
        <p:nvSpPr>
          <p:cNvPr id="11" name="Text 9"/>
          <p:cNvSpPr/>
          <p:nvPr/>
        </p:nvSpPr>
        <p:spPr>
          <a:xfrm>
            <a:off x="502920" y="3794760"/>
            <a:ext cx="5486400" cy="292608"/>
          </a:xfrm>
          <a:prstGeom prst="rect">
            <a:avLst/>
          </a:prstGeom>
          <a:noFill/>
          <a:ln/>
        </p:spPr>
        <p:txBody>
          <a:bodyPr wrap="square" lIns="0" tIns="0" rIns="0" bIns="0" rtlCol="0" anchor="ctr"/>
          <a:lstStyle/>
          <a:p>
            <a:pPr indent="0" marL="0">
              <a:buNone/>
            </a:pPr>
            <a:r>
              <a:rPr lang="en-US" sz="1600" b="1" dirty="0">
                <a:solidFill>
                  <a:srgbClr val="21295C"/>
                </a:solidFill>
                <a:latin typeface="Cambria" pitchFamily="34" charset="0"/>
                <a:ea typeface="Cambria" pitchFamily="34" charset="-122"/>
                <a:cs typeface="Cambria" pitchFamily="34" charset="-120"/>
              </a:rPr>
              <a:t>Bốn hạn chế của cách làm hiện tại</a:t>
            </a:r>
            <a:endParaRPr lang="en-US" sz="1600" dirty="0"/>
          </a:p>
        </p:txBody>
      </p:sp>
      <p:sp>
        <p:nvSpPr>
          <p:cNvPr id="12" name="Shape 10"/>
          <p:cNvSpPr/>
          <p:nvPr/>
        </p:nvSpPr>
        <p:spPr>
          <a:xfrm>
            <a:off x="502920" y="4206240"/>
            <a:ext cx="2651760" cy="1645920"/>
          </a:xfrm>
          <a:prstGeom prst="roundRect">
            <a:avLst>
              <a:gd name="adj" fmla="val 3889"/>
            </a:avLst>
          </a:prstGeom>
          <a:solidFill>
            <a:srgbClr val="F5F9FB"/>
          </a:solidFill>
          <a:ln/>
          <a:effectLst>
            <a:outerShdw sx="100000" sy="100000" kx="0" ky="0" algn="bl" rotWithShape="0" blurRad="76200" dist="19050" dir="5400000">
              <a:srgbClr val="9AAAB5">
                <a:alpha val="30000"/>
              </a:srgbClr>
            </a:outerShdw>
          </a:effectLst>
        </p:spPr>
      </p:sp>
      <p:sp>
        <p:nvSpPr>
          <p:cNvPr id="13" name="Shape 11"/>
          <p:cNvSpPr/>
          <p:nvPr/>
        </p:nvSpPr>
        <p:spPr>
          <a:xfrm>
            <a:off x="704088" y="4352544"/>
            <a:ext cx="420624" cy="420624"/>
          </a:xfrm>
          <a:prstGeom prst="ellipse">
            <a:avLst/>
          </a:prstGeom>
          <a:solidFill>
            <a:srgbClr val="065A82"/>
          </a:solidFill>
          <a:ln/>
        </p:spPr>
      </p:sp>
      <p:sp>
        <p:nvSpPr>
          <p:cNvPr id="14" name="Text 12"/>
          <p:cNvSpPr/>
          <p:nvPr/>
        </p:nvSpPr>
        <p:spPr>
          <a:xfrm>
            <a:off x="704088" y="43525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15" name="Text 13"/>
          <p:cNvSpPr/>
          <p:nvPr/>
        </p:nvSpPr>
        <p:spPr>
          <a:xfrm>
            <a:off x="704088" y="4846320"/>
            <a:ext cx="2286000" cy="237744"/>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Nhập liệu thủ công</a:t>
            </a:r>
            <a:endParaRPr lang="en-US" sz="1200" dirty="0"/>
          </a:p>
        </p:txBody>
      </p:sp>
      <p:sp>
        <p:nvSpPr>
          <p:cNvPr id="16" name="Text 14"/>
          <p:cNvSpPr/>
          <p:nvPr/>
        </p:nvSpPr>
        <p:spPr>
          <a:xfrm>
            <a:off x="704088" y="5102352"/>
            <a:ext cx="2286000" cy="694944"/>
          </a:xfrm>
          <a:prstGeom prst="rect">
            <a:avLst/>
          </a:prstGeom>
          <a:noFill/>
          <a:ln/>
        </p:spPr>
        <p:txBody>
          <a:bodyPr wrap="square" lIns="0" tIns="0" rIns="0" bIns="0" rtlCol="0" anchor="ctr"/>
          <a:lstStyle/>
          <a:p>
            <a:pPr indent="0" marL="0">
              <a:lnSpc>
                <a:spcPts val="1300"/>
              </a:lnSpc>
              <a:buNone/>
            </a:pPr>
            <a:r>
              <a:rPr lang="en-US" sz="950" dirty="0">
                <a:solidFill>
                  <a:srgbClr val="55656F"/>
                </a:solidFill>
                <a:latin typeface="Calibri" pitchFamily="34" charset="0"/>
                <a:ea typeface="Calibri" pitchFamily="34" charset="-122"/>
                <a:cs typeface="Calibri" pitchFamily="34" charset="-120"/>
              </a:rPr>
              <a:t>Cán bộ đọc từng tài liệu, gõ lại từng trường. Chậm, dễ sai, không đồng nhất.</a:t>
            </a:r>
            <a:endParaRPr lang="en-US" sz="950" dirty="0"/>
          </a:p>
        </p:txBody>
      </p:sp>
      <p:sp>
        <p:nvSpPr>
          <p:cNvPr id="17" name="Shape 15"/>
          <p:cNvSpPr/>
          <p:nvPr/>
        </p:nvSpPr>
        <p:spPr>
          <a:xfrm>
            <a:off x="3346704" y="4206240"/>
            <a:ext cx="2651760" cy="1645920"/>
          </a:xfrm>
          <a:prstGeom prst="roundRect">
            <a:avLst>
              <a:gd name="adj" fmla="val 3889"/>
            </a:avLst>
          </a:prstGeom>
          <a:solidFill>
            <a:srgbClr val="F5F9FB"/>
          </a:solidFill>
          <a:ln/>
          <a:effectLst>
            <a:outerShdw sx="100000" sy="100000" kx="0" ky="0" algn="bl" rotWithShape="0" blurRad="76200" dist="19050" dir="5400000">
              <a:srgbClr val="9AAAB5">
                <a:alpha val="30000"/>
              </a:srgbClr>
            </a:outerShdw>
          </a:effectLst>
        </p:spPr>
      </p:sp>
      <p:sp>
        <p:nvSpPr>
          <p:cNvPr id="18" name="Shape 16"/>
          <p:cNvSpPr/>
          <p:nvPr/>
        </p:nvSpPr>
        <p:spPr>
          <a:xfrm>
            <a:off x="3547872" y="4352544"/>
            <a:ext cx="420624" cy="420624"/>
          </a:xfrm>
          <a:prstGeom prst="ellipse">
            <a:avLst/>
          </a:prstGeom>
          <a:solidFill>
            <a:srgbClr val="065A82"/>
          </a:solidFill>
          <a:ln/>
        </p:spPr>
      </p:sp>
      <p:sp>
        <p:nvSpPr>
          <p:cNvPr id="19" name="Text 17"/>
          <p:cNvSpPr/>
          <p:nvPr/>
        </p:nvSpPr>
        <p:spPr>
          <a:xfrm>
            <a:off x="3547872" y="43525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20" name="Text 18"/>
          <p:cNvSpPr/>
          <p:nvPr/>
        </p:nvSpPr>
        <p:spPr>
          <a:xfrm>
            <a:off x="3547872" y="4846320"/>
            <a:ext cx="2286000" cy="237744"/>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OCR thường không đủ</a:t>
            </a:r>
            <a:endParaRPr lang="en-US" sz="1200" dirty="0"/>
          </a:p>
        </p:txBody>
      </p:sp>
      <p:sp>
        <p:nvSpPr>
          <p:cNvPr id="21" name="Text 19"/>
          <p:cNvSpPr/>
          <p:nvPr/>
        </p:nvSpPr>
        <p:spPr>
          <a:xfrm>
            <a:off x="3547872" y="5102352"/>
            <a:ext cx="2286000" cy="694944"/>
          </a:xfrm>
          <a:prstGeom prst="rect">
            <a:avLst/>
          </a:prstGeom>
          <a:noFill/>
          <a:ln/>
        </p:spPr>
        <p:txBody>
          <a:bodyPr wrap="square" lIns="0" tIns="0" rIns="0" bIns="0" rtlCol="0" anchor="ctr"/>
          <a:lstStyle/>
          <a:p>
            <a:pPr indent="0" marL="0">
              <a:lnSpc>
                <a:spcPts val="1300"/>
              </a:lnSpc>
              <a:buNone/>
            </a:pPr>
            <a:r>
              <a:rPr lang="en-US" sz="950" dirty="0">
                <a:solidFill>
                  <a:srgbClr val="55656F"/>
                </a:solidFill>
                <a:latin typeface="Calibri" pitchFamily="34" charset="0"/>
                <a:ea typeface="Calibri" pitchFamily="34" charset="-122"/>
                <a:cs typeface="Calibri" pitchFamily="34" charset="-120"/>
              </a:rPr>
              <a:t>Chỉ tạo văn bản thô. Vẫn phải tự xác định đâu là số hiệu, đâu là ngày ban hành.</a:t>
            </a:r>
            <a:endParaRPr lang="en-US" sz="950" dirty="0"/>
          </a:p>
        </p:txBody>
      </p:sp>
      <p:sp>
        <p:nvSpPr>
          <p:cNvPr id="22" name="Shape 20"/>
          <p:cNvSpPr/>
          <p:nvPr/>
        </p:nvSpPr>
        <p:spPr>
          <a:xfrm>
            <a:off x="6190488" y="4206240"/>
            <a:ext cx="2651760" cy="1645920"/>
          </a:xfrm>
          <a:prstGeom prst="roundRect">
            <a:avLst>
              <a:gd name="adj" fmla="val 3889"/>
            </a:avLst>
          </a:prstGeom>
          <a:solidFill>
            <a:srgbClr val="F5F9FB"/>
          </a:solidFill>
          <a:ln/>
          <a:effectLst>
            <a:outerShdw sx="100000" sy="100000" kx="0" ky="0" algn="bl" rotWithShape="0" blurRad="76200" dist="19050" dir="5400000">
              <a:srgbClr val="9AAAB5">
                <a:alpha val="30000"/>
              </a:srgbClr>
            </a:outerShdw>
          </a:effectLst>
        </p:spPr>
      </p:sp>
      <p:sp>
        <p:nvSpPr>
          <p:cNvPr id="23" name="Shape 21"/>
          <p:cNvSpPr/>
          <p:nvPr/>
        </p:nvSpPr>
        <p:spPr>
          <a:xfrm>
            <a:off x="6391656" y="4352544"/>
            <a:ext cx="420624" cy="420624"/>
          </a:xfrm>
          <a:prstGeom prst="ellipse">
            <a:avLst/>
          </a:prstGeom>
          <a:solidFill>
            <a:srgbClr val="065A82"/>
          </a:solidFill>
          <a:ln/>
        </p:spPr>
      </p:sp>
      <p:sp>
        <p:nvSpPr>
          <p:cNvPr id="24" name="Text 22"/>
          <p:cNvSpPr/>
          <p:nvPr/>
        </p:nvSpPr>
        <p:spPr>
          <a:xfrm>
            <a:off x="6391656" y="43525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5" name="Text 23"/>
          <p:cNvSpPr/>
          <p:nvPr/>
        </p:nvSpPr>
        <p:spPr>
          <a:xfrm>
            <a:off x="6391656" y="4846320"/>
            <a:ext cx="2286000" cy="237744"/>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Tra cứu chậm</a:t>
            </a:r>
            <a:endParaRPr lang="en-US" sz="1200" dirty="0"/>
          </a:p>
        </p:txBody>
      </p:sp>
      <p:sp>
        <p:nvSpPr>
          <p:cNvPr id="26" name="Text 24"/>
          <p:cNvSpPr/>
          <p:nvPr/>
        </p:nvSpPr>
        <p:spPr>
          <a:xfrm>
            <a:off x="6391656" y="5102352"/>
            <a:ext cx="2286000" cy="694944"/>
          </a:xfrm>
          <a:prstGeom prst="rect">
            <a:avLst/>
          </a:prstGeom>
          <a:noFill/>
          <a:ln/>
        </p:spPr>
        <p:txBody>
          <a:bodyPr wrap="square" lIns="0" tIns="0" rIns="0" bIns="0" rtlCol="0" anchor="ctr"/>
          <a:lstStyle/>
          <a:p>
            <a:pPr indent="0" marL="0">
              <a:lnSpc>
                <a:spcPts val="1300"/>
              </a:lnSpc>
              <a:buNone/>
            </a:pPr>
            <a:r>
              <a:rPr lang="en-US" sz="950" dirty="0">
                <a:solidFill>
                  <a:srgbClr val="55656F"/>
                </a:solidFill>
                <a:latin typeface="Calibri" pitchFamily="34" charset="0"/>
                <a:ea typeface="Calibri" pitchFamily="34" charset="-122"/>
                <a:cs typeface="Calibri" pitchFamily="34" charset="-120"/>
              </a:rPr>
              <a:t>Tìm văn bản cũ phải dò theo sổ hoặc tên file, không tìm được theo nội dung.</a:t>
            </a:r>
            <a:endParaRPr lang="en-US" sz="950" dirty="0"/>
          </a:p>
        </p:txBody>
      </p:sp>
      <p:sp>
        <p:nvSpPr>
          <p:cNvPr id="27" name="Shape 25"/>
          <p:cNvSpPr/>
          <p:nvPr/>
        </p:nvSpPr>
        <p:spPr>
          <a:xfrm>
            <a:off x="9034272" y="4206240"/>
            <a:ext cx="2651760" cy="1645920"/>
          </a:xfrm>
          <a:prstGeom prst="roundRect">
            <a:avLst>
              <a:gd name="adj" fmla="val 3889"/>
            </a:avLst>
          </a:prstGeom>
          <a:solidFill>
            <a:srgbClr val="F5F9FB"/>
          </a:solidFill>
          <a:ln/>
          <a:effectLst>
            <a:outerShdw sx="100000" sy="100000" kx="0" ky="0" algn="bl" rotWithShape="0" blurRad="76200" dist="19050" dir="5400000">
              <a:srgbClr val="9AAAB5">
                <a:alpha val="30000"/>
              </a:srgbClr>
            </a:outerShdw>
          </a:effectLst>
        </p:spPr>
      </p:sp>
      <p:sp>
        <p:nvSpPr>
          <p:cNvPr id="28" name="Shape 26"/>
          <p:cNvSpPr/>
          <p:nvPr/>
        </p:nvSpPr>
        <p:spPr>
          <a:xfrm>
            <a:off x="9235440" y="4352544"/>
            <a:ext cx="420624" cy="420624"/>
          </a:xfrm>
          <a:prstGeom prst="ellipse">
            <a:avLst/>
          </a:prstGeom>
          <a:solidFill>
            <a:srgbClr val="065A82"/>
          </a:solidFill>
          <a:ln/>
        </p:spPr>
      </p:sp>
      <p:sp>
        <p:nvSpPr>
          <p:cNvPr id="29" name="Text 27"/>
          <p:cNvSpPr/>
          <p:nvPr/>
        </p:nvSpPr>
        <p:spPr>
          <a:xfrm>
            <a:off x="9235440" y="43525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30" name="Text 28"/>
          <p:cNvSpPr/>
          <p:nvPr/>
        </p:nvSpPr>
        <p:spPr>
          <a:xfrm>
            <a:off x="9235440" y="4846320"/>
            <a:ext cx="2286000" cy="237744"/>
          </a:xfrm>
          <a:prstGeom prst="rect">
            <a:avLst/>
          </a:prstGeom>
          <a:noFill/>
          <a:ln/>
        </p:spPr>
        <p:txBody>
          <a:bodyPr wrap="square" lIns="0" tIns="0" rIns="0" bIns="0" rtlCol="0" anchor="ctr"/>
          <a:lstStyle/>
          <a:p>
            <a:pPr indent="0" marL="0">
              <a:buNone/>
            </a:pPr>
            <a:r>
              <a:rPr lang="en-US" sz="1200" b="1" dirty="0">
                <a:solidFill>
                  <a:srgbClr val="21295C"/>
                </a:solidFill>
                <a:latin typeface="Cambria" pitchFamily="34" charset="0"/>
                <a:ea typeface="Cambria" pitchFamily="34" charset="-122"/>
                <a:cs typeface="Cambria" pitchFamily="34" charset="-120"/>
              </a:rPr>
              <a:t>Không tổng hợp được</a:t>
            </a:r>
            <a:endParaRPr lang="en-US" sz="1200" dirty="0"/>
          </a:p>
        </p:txBody>
      </p:sp>
      <p:sp>
        <p:nvSpPr>
          <p:cNvPr id="31" name="Text 29"/>
          <p:cNvSpPr/>
          <p:nvPr/>
        </p:nvSpPr>
        <p:spPr>
          <a:xfrm>
            <a:off x="9235440" y="5102352"/>
            <a:ext cx="2286000" cy="694944"/>
          </a:xfrm>
          <a:prstGeom prst="rect">
            <a:avLst/>
          </a:prstGeom>
          <a:noFill/>
          <a:ln/>
        </p:spPr>
        <p:txBody>
          <a:bodyPr wrap="square" lIns="0" tIns="0" rIns="0" bIns="0" rtlCol="0" anchor="ctr"/>
          <a:lstStyle/>
          <a:p>
            <a:pPr indent="0" marL="0">
              <a:lnSpc>
                <a:spcPts val="1300"/>
              </a:lnSpc>
              <a:buNone/>
            </a:pPr>
            <a:r>
              <a:rPr lang="en-US" sz="950" dirty="0">
                <a:solidFill>
                  <a:srgbClr val="55656F"/>
                </a:solidFill>
                <a:latin typeface="Calibri" pitchFamily="34" charset="0"/>
                <a:ea typeface="Calibri" pitchFamily="34" charset="-122"/>
                <a:cs typeface="Calibri" pitchFamily="34" charset="-120"/>
              </a:rPr>
              <a:t>Không trả lời nổi câu hỏi đơn giản: "có bao nhiêu văn bản về lĩnh vực X quý này?"</a:t>
            </a:r>
            <a:endParaRPr lang="en-US" sz="950" dirty="0"/>
          </a:p>
        </p:txBody>
      </p:sp>
      <p:sp>
        <p:nvSpPr>
          <p:cNvPr id="32" name="Text 30"/>
          <p:cNvSpPr/>
          <p:nvPr/>
        </p:nvSpPr>
        <p:spPr>
          <a:xfrm>
            <a:off x="502920" y="6053328"/>
            <a:ext cx="11155680" cy="457200"/>
          </a:xfrm>
          <a:prstGeom prst="rect">
            <a:avLst/>
          </a:prstGeom>
          <a:noFill/>
          <a:ln/>
        </p:spPr>
        <p:txBody>
          <a:bodyPr wrap="square" lIns="0" tIns="0" rIns="0" bIns="0" rtlCol="0" anchor="ctr"/>
          <a:lstStyle/>
          <a:p>
            <a:pPr algn="l" indent="0" marL="0">
              <a:lnSpc>
                <a:spcPts val="1200"/>
              </a:lnSpc>
              <a:buNone/>
            </a:pPr>
            <a:r>
              <a:rPr lang="en-US" sz="900" dirty="0">
                <a:solidFill>
                  <a:srgbClr val="8A98A2"/>
                </a:solidFill>
                <a:latin typeface="Calibri" pitchFamily="34" charset="0"/>
                <a:ea typeface="Calibri" pitchFamily="34" charset="-122"/>
                <a:cs typeface="Calibri" pitchFamily="34" charset="-120"/>
              </a:rPr>
              <a:t>Số liệu định lượng về khối lượng tồn đọng và giờ công tiêu tốn: [cần điền] — bổ sung từ log hệ thống trước khi trình bày</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02</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Giải pháp: lớp chuyển đổi từ giấy sang dữ liệu</a:t>
            </a:r>
            <a:endParaRPr lang="en-US" sz="3000" dirty="0"/>
          </a:p>
        </p:txBody>
      </p:sp>
      <p:sp>
        <p:nvSpPr>
          <p:cNvPr id="4" name="Text 2"/>
          <p:cNvSpPr/>
          <p:nvPr/>
        </p:nvSpPr>
        <p:spPr>
          <a:xfrm>
            <a:off x="1143000" y="859536"/>
            <a:ext cx="10515600" cy="310896"/>
          </a:xfrm>
          <a:prstGeom prst="rect">
            <a:avLst/>
          </a:prstGeom>
          <a:noFill/>
          <a:ln/>
        </p:spPr>
        <p:txBody>
          <a:bodyPr wrap="square" lIns="0" tIns="0" rIns="0" bIns="0" rtlCol="0" anchor="ctr"/>
          <a:lstStyle/>
          <a:p>
            <a:pPr algn="l" indent="0" marL="0">
              <a:buNone/>
            </a:pPr>
            <a:r>
              <a:rPr lang="en-US" sz="1350" i="1" dirty="0">
                <a:solidFill>
                  <a:srgbClr val="5A6B75"/>
                </a:solidFill>
                <a:latin typeface="Calibri" pitchFamily="34" charset="0"/>
                <a:ea typeface="Calibri" pitchFamily="34" charset="-122"/>
                <a:cs typeface="Calibri" pitchFamily="34" charset="-120"/>
              </a:rPr>
              <a:t>Không thay thế hệ thống sẵn có — bổ sung đúng mắt xích còn thiếu</a:t>
            </a:r>
            <a:endParaRPr lang="en-US" sz="1350" dirty="0"/>
          </a:p>
        </p:txBody>
      </p:sp>
      <p:sp>
        <p:nvSpPr>
          <p:cNvPr id="5" name="Shape 3"/>
          <p:cNvSpPr/>
          <p:nvPr/>
        </p:nvSpPr>
        <p:spPr>
          <a:xfrm>
            <a:off x="502920" y="1600200"/>
            <a:ext cx="2048256" cy="2011680"/>
          </a:xfrm>
          <a:prstGeom prst="roundRect">
            <a:avLst>
              <a:gd name="adj" fmla="val 3182"/>
            </a:avLst>
          </a:prstGeom>
          <a:solidFill>
            <a:srgbClr val="E8F1F5"/>
          </a:solidFill>
          <a:ln/>
        </p:spPr>
      </p:sp>
      <p:sp>
        <p:nvSpPr>
          <p:cNvPr id="6" name="Shape 4"/>
          <p:cNvSpPr/>
          <p:nvPr/>
        </p:nvSpPr>
        <p:spPr>
          <a:xfrm>
            <a:off x="1280160" y="1810512"/>
            <a:ext cx="493776" cy="493776"/>
          </a:xfrm>
          <a:prstGeom prst="ellipse">
            <a:avLst/>
          </a:prstGeom>
          <a:solidFill>
            <a:srgbClr val="065A82"/>
          </a:solidFill>
          <a:ln/>
        </p:spPr>
      </p:sp>
      <p:sp>
        <p:nvSpPr>
          <p:cNvPr id="7" name="Text 5"/>
          <p:cNvSpPr/>
          <p:nvPr/>
        </p:nvSpPr>
        <p:spPr>
          <a:xfrm>
            <a:off x="1280160" y="18105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8" name="Text 6"/>
          <p:cNvSpPr/>
          <p:nvPr/>
        </p:nvSpPr>
        <p:spPr>
          <a:xfrm>
            <a:off x="630936" y="2432304"/>
            <a:ext cx="1792224" cy="274320"/>
          </a:xfrm>
          <a:prstGeom prst="rect">
            <a:avLst/>
          </a:prstGeom>
          <a:noFill/>
          <a:ln/>
        </p:spPr>
        <p:txBody>
          <a:bodyPr wrap="square" lIns="0" tIns="0" rIns="0" bIns="0" rtlCol="0" anchor="ctr"/>
          <a:lstStyle/>
          <a:p>
            <a:pPr algn="ctr" indent="0" marL="0">
              <a:buNone/>
            </a:pPr>
            <a:r>
              <a:rPr lang="en-US" sz="1300" b="1" dirty="0">
                <a:solidFill>
                  <a:srgbClr val="21295C"/>
                </a:solidFill>
                <a:latin typeface="Cambria" pitchFamily="34" charset="0"/>
                <a:ea typeface="Cambria" pitchFamily="34" charset="-122"/>
                <a:cs typeface="Cambria" pitchFamily="34" charset="-120"/>
              </a:rPr>
              <a:t>Tiếp nhận</a:t>
            </a:r>
            <a:endParaRPr lang="en-US" sz="1300" dirty="0"/>
          </a:p>
        </p:txBody>
      </p:sp>
      <p:sp>
        <p:nvSpPr>
          <p:cNvPr id="9" name="Text 7"/>
          <p:cNvSpPr/>
          <p:nvPr/>
        </p:nvSpPr>
        <p:spPr>
          <a:xfrm>
            <a:off x="630936" y="2743200"/>
            <a:ext cx="1792224" cy="749808"/>
          </a:xfrm>
          <a:prstGeom prst="rect">
            <a:avLst/>
          </a:prstGeom>
          <a:noFill/>
          <a:ln/>
        </p:spPr>
        <p:txBody>
          <a:bodyPr wrap="square" lIns="0" tIns="0" rIns="0" bIns="0" rtlCol="0" anchor="ctr"/>
          <a:lstStyle/>
          <a:p>
            <a:pPr algn="ctr" indent="0" marL="0">
              <a:lnSpc>
                <a:spcPts val="1300"/>
              </a:lnSpc>
              <a:buNone/>
            </a:pPr>
            <a:r>
              <a:rPr lang="en-US" sz="950" dirty="0">
                <a:solidFill>
                  <a:srgbClr val="55656F"/>
                </a:solidFill>
                <a:latin typeface="Calibri" pitchFamily="34" charset="0"/>
                <a:ea typeface="Calibri" pitchFamily="34" charset="-122"/>
                <a:cs typeface="Calibri" pitchFamily="34" charset="-120"/>
              </a:rPr>
              <a:t>Tải tài liệu scan lên, kéo thả, hàng loạt</a:t>
            </a:r>
            <a:endParaRPr lang="en-US" sz="950" dirty="0"/>
          </a:p>
        </p:txBody>
      </p:sp>
      <p:sp>
        <p:nvSpPr>
          <p:cNvPr id="10" name="Text 8"/>
          <p:cNvSpPr/>
          <p:nvPr/>
        </p:nvSpPr>
        <p:spPr>
          <a:xfrm>
            <a:off x="2551176" y="2487168"/>
            <a:ext cx="246888" cy="274320"/>
          </a:xfrm>
          <a:prstGeom prst="rect">
            <a:avLst/>
          </a:prstGeom>
          <a:noFill/>
          <a:ln/>
        </p:spPr>
        <p:txBody>
          <a:bodyPr wrap="square" lIns="0" tIns="0" rIns="0" bIns="0" rtlCol="0" anchor="ctr"/>
          <a:lstStyle/>
          <a:p>
            <a:pPr algn="ctr" indent="0" marL="0">
              <a:buNone/>
            </a:pPr>
            <a:r>
              <a:rPr lang="en-US" sz="1200" dirty="0">
                <a:solidFill>
                  <a:srgbClr val="1C7293"/>
                </a:solidFill>
                <a:latin typeface="Calibri" pitchFamily="34" charset="0"/>
                <a:ea typeface="Calibri" pitchFamily="34" charset="-122"/>
                <a:cs typeface="Calibri" pitchFamily="34" charset="-120"/>
              </a:rPr>
              <a:t>▶</a:t>
            </a:r>
            <a:endParaRPr lang="en-US" sz="1200" dirty="0"/>
          </a:p>
        </p:txBody>
      </p:sp>
      <p:sp>
        <p:nvSpPr>
          <p:cNvPr id="11" name="Shape 9"/>
          <p:cNvSpPr/>
          <p:nvPr/>
        </p:nvSpPr>
        <p:spPr>
          <a:xfrm>
            <a:off x="2798064" y="1600200"/>
            <a:ext cx="2048256" cy="2011680"/>
          </a:xfrm>
          <a:prstGeom prst="roundRect">
            <a:avLst>
              <a:gd name="adj" fmla="val 3182"/>
            </a:avLst>
          </a:prstGeom>
          <a:solidFill>
            <a:srgbClr val="E8F1F5"/>
          </a:solidFill>
          <a:ln/>
        </p:spPr>
      </p:sp>
      <p:sp>
        <p:nvSpPr>
          <p:cNvPr id="12" name="Shape 10"/>
          <p:cNvSpPr/>
          <p:nvPr/>
        </p:nvSpPr>
        <p:spPr>
          <a:xfrm>
            <a:off x="3575304" y="1810512"/>
            <a:ext cx="493776" cy="493776"/>
          </a:xfrm>
          <a:prstGeom prst="ellipse">
            <a:avLst/>
          </a:prstGeom>
          <a:solidFill>
            <a:srgbClr val="065A82"/>
          </a:solidFill>
          <a:ln/>
        </p:spPr>
      </p:sp>
      <p:sp>
        <p:nvSpPr>
          <p:cNvPr id="13" name="Text 11"/>
          <p:cNvSpPr/>
          <p:nvPr/>
        </p:nvSpPr>
        <p:spPr>
          <a:xfrm>
            <a:off x="3575304" y="18105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4" name="Text 12"/>
          <p:cNvSpPr/>
          <p:nvPr/>
        </p:nvSpPr>
        <p:spPr>
          <a:xfrm>
            <a:off x="2926080" y="2432304"/>
            <a:ext cx="1792224" cy="274320"/>
          </a:xfrm>
          <a:prstGeom prst="rect">
            <a:avLst/>
          </a:prstGeom>
          <a:noFill/>
          <a:ln/>
        </p:spPr>
        <p:txBody>
          <a:bodyPr wrap="square" lIns="0" tIns="0" rIns="0" bIns="0" rtlCol="0" anchor="ctr"/>
          <a:lstStyle/>
          <a:p>
            <a:pPr algn="ctr" indent="0" marL="0">
              <a:buNone/>
            </a:pPr>
            <a:r>
              <a:rPr lang="en-US" sz="1300" b="1" dirty="0">
                <a:solidFill>
                  <a:srgbClr val="21295C"/>
                </a:solidFill>
                <a:latin typeface="Cambria" pitchFamily="34" charset="0"/>
                <a:ea typeface="Cambria" pitchFamily="34" charset="-122"/>
                <a:cs typeface="Cambria" pitchFamily="34" charset="-120"/>
              </a:rPr>
              <a:t>Tối ưu + OCR</a:t>
            </a:r>
            <a:endParaRPr lang="en-US" sz="1300" dirty="0"/>
          </a:p>
        </p:txBody>
      </p:sp>
      <p:sp>
        <p:nvSpPr>
          <p:cNvPr id="15" name="Text 13"/>
          <p:cNvSpPr/>
          <p:nvPr/>
        </p:nvSpPr>
        <p:spPr>
          <a:xfrm>
            <a:off x="2926080" y="2743200"/>
            <a:ext cx="1792224" cy="749808"/>
          </a:xfrm>
          <a:prstGeom prst="rect">
            <a:avLst/>
          </a:prstGeom>
          <a:noFill/>
          <a:ln/>
        </p:spPr>
        <p:txBody>
          <a:bodyPr wrap="square" lIns="0" tIns="0" rIns="0" bIns="0" rtlCol="0" anchor="ctr"/>
          <a:lstStyle/>
          <a:p>
            <a:pPr algn="ctr" indent="0" marL="0">
              <a:lnSpc>
                <a:spcPts val="1300"/>
              </a:lnSpc>
              <a:buNone/>
            </a:pPr>
            <a:r>
              <a:rPr lang="en-US" sz="950" dirty="0">
                <a:solidFill>
                  <a:srgbClr val="55656F"/>
                </a:solidFill>
                <a:latin typeface="Calibri" pitchFamily="34" charset="0"/>
                <a:ea typeface="Calibri" pitchFamily="34" charset="-122"/>
                <a:cs typeface="Calibri" pitchFamily="34" charset="-120"/>
              </a:rPr>
              <a:t>Nén hai pha, nhận dạng ký tự Việt–Anh, xuất PDF/A-2b</a:t>
            </a:r>
            <a:endParaRPr lang="en-US" sz="950" dirty="0"/>
          </a:p>
        </p:txBody>
      </p:sp>
      <p:sp>
        <p:nvSpPr>
          <p:cNvPr id="16" name="Text 14"/>
          <p:cNvSpPr/>
          <p:nvPr/>
        </p:nvSpPr>
        <p:spPr>
          <a:xfrm>
            <a:off x="4846320" y="2487168"/>
            <a:ext cx="246888" cy="274320"/>
          </a:xfrm>
          <a:prstGeom prst="rect">
            <a:avLst/>
          </a:prstGeom>
          <a:noFill/>
          <a:ln/>
        </p:spPr>
        <p:txBody>
          <a:bodyPr wrap="square" lIns="0" tIns="0" rIns="0" bIns="0" rtlCol="0" anchor="ctr"/>
          <a:lstStyle/>
          <a:p>
            <a:pPr algn="ctr" indent="0" marL="0">
              <a:buNone/>
            </a:pPr>
            <a:r>
              <a:rPr lang="en-US" sz="1200" dirty="0">
                <a:solidFill>
                  <a:srgbClr val="1C7293"/>
                </a:solidFill>
                <a:latin typeface="Calibri" pitchFamily="34" charset="0"/>
                <a:ea typeface="Calibri" pitchFamily="34" charset="-122"/>
                <a:cs typeface="Calibri" pitchFamily="34" charset="-120"/>
              </a:rPr>
              <a:t>▶</a:t>
            </a:r>
            <a:endParaRPr lang="en-US" sz="1200" dirty="0"/>
          </a:p>
        </p:txBody>
      </p:sp>
      <p:sp>
        <p:nvSpPr>
          <p:cNvPr id="17" name="Shape 15"/>
          <p:cNvSpPr/>
          <p:nvPr/>
        </p:nvSpPr>
        <p:spPr>
          <a:xfrm>
            <a:off x="5093208" y="1600200"/>
            <a:ext cx="2048256" cy="2011680"/>
          </a:xfrm>
          <a:prstGeom prst="roundRect">
            <a:avLst>
              <a:gd name="adj" fmla="val 3182"/>
            </a:avLst>
          </a:prstGeom>
          <a:solidFill>
            <a:srgbClr val="E8F1F5"/>
          </a:solidFill>
          <a:ln/>
        </p:spPr>
      </p:sp>
      <p:sp>
        <p:nvSpPr>
          <p:cNvPr id="18" name="Shape 16"/>
          <p:cNvSpPr/>
          <p:nvPr/>
        </p:nvSpPr>
        <p:spPr>
          <a:xfrm>
            <a:off x="5870448" y="1810512"/>
            <a:ext cx="493776" cy="493776"/>
          </a:xfrm>
          <a:prstGeom prst="ellipse">
            <a:avLst/>
          </a:prstGeom>
          <a:solidFill>
            <a:srgbClr val="065A82"/>
          </a:solidFill>
          <a:ln/>
        </p:spPr>
      </p:sp>
      <p:sp>
        <p:nvSpPr>
          <p:cNvPr id="19" name="Text 17"/>
          <p:cNvSpPr/>
          <p:nvPr/>
        </p:nvSpPr>
        <p:spPr>
          <a:xfrm>
            <a:off x="5870448" y="18105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0" name="Text 18"/>
          <p:cNvSpPr/>
          <p:nvPr/>
        </p:nvSpPr>
        <p:spPr>
          <a:xfrm>
            <a:off x="5221224" y="2432304"/>
            <a:ext cx="1792224" cy="274320"/>
          </a:xfrm>
          <a:prstGeom prst="rect">
            <a:avLst/>
          </a:prstGeom>
          <a:noFill/>
          <a:ln/>
        </p:spPr>
        <p:txBody>
          <a:bodyPr wrap="square" lIns="0" tIns="0" rIns="0" bIns="0" rtlCol="0" anchor="ctr"/>
          <a:lstStyle/>
          <a:p>
            <a:pPr algn="ctr" indent="0" marL="0">
              <a:buNone/>
            </a:pPr>
            <a:r>
              <a:rPr lang="en-US" sz="1300" b="1" dirty="0">
                <a:solidFill>
                  <a:srgbClr val="21295C"/>
                </a:solidFill>
                <a:latin typeface="Cambria" pitchFamily="34" charset="0"/>
                <a:ea typeface="Cambria" pitchFamily="34" charset="-122"/>
                <a:cs typeface="Cambria" pitchFamily="34" charset="-120"/>
              </a:rPr>
              <a:t>Trích xuất AI</a:t>
            </a:r>
            <a:endParaRPr lang="en-US" sz="1300" dirty="0"/>
          </a:p>
        </p:txBody>
      </p:sp>
      <p:sp>
        <p:nvSpPr>
          <p:cNvPr id="21" name="Text 19"/>
          <p:cNvSpPr/>
          <p:nvPr/>
        </p:nvSpPr>
        <p:spPr>
          <a:xfrm>
            <a:off x="5221224" y="2743200"/>
            <a:ext cx="1792224" cy="749808"/>
          </a:xfrm>
          <a:prstGeom prst="rect">
            <a:avLst/>
          </a:prstGeom>
          <a:noFill/>
          <a:ln/>
        </p:spPr>
        <p:txBody>
          <a:bodyPr wrap="square" lIns="0" tIns="0" rIns="0" bIns="0" rtlCol="0" anchor="ctr"/>
          <a:lstStyle/>
          <a:p>
            <a:pPr algn="ctr" indent="0" marL="0">
              <a:lnSpc>
                <a:spcPts val="1300"/>
              </a:lnSpc>
              <a:buNone/>
            </a:pPr>
            <a:r>
              <a:rPr lang="en-US" sz="950" dirty="0">
                <a:solidFill>
                  <a:srgbClr val="55656F"/>
                </a:solidFill>
                <a:latin typeface="Calibri" pitchFamily="34" charset="0"/>
                <a:ea typeface="Calibri" pitchFamily="34" charset="-122"/>
                <a:cs typeface="Calibri" pitchFamily="34" charset="-120"/>
              </a:rPr>
              <a:t>Mô hình phân tích ngữ nghĩa, bóc tách từng trường theo lược đồ</a:t>
            </a:r>
            <a:endParaRPr lang="en-US" sz="950" dirty="0"/>
          </a:p>
        </p:txBody>
      </p:sp>
      <p:sp>
        <p:nvSpPr>
          <p:cNvPr id="22" name="Text 20"/>
          <p:cNvSpPr/>
          <p:nvPr/>
        </p:nvSpPr>
        <p:spPr>
          <a:xfrm>
            <a:off x="7141464" y="2487168"/>
            <a:ext cx="246888" cy="274320"/>
          </a:xfrm>
          <a:prstGeom prst="rect">
            <a:avLst/>
          </a:prstGeom>
          <a:noFill/>
          <a:ln/>
        </p:spPr>
        <p:txBody>
          <a:bodyPr wrap="square" lIns="0" tIns="0" rIns="0" bIns="0" rtlCol="0" anchor="ctr"/>
          <a:lstStyle/>
          <a:p>
            <a:pPr algn="ctr" indent="0" marL="0">
              <a:buNone/>
            </a:pPr>
            <a:r>
              <a:rPr lang="en-US" sz="1200" dirty="0">
                <a:solidFill>
                  <a:srgbClr val="1C7293"/>
                </a:solidFill>
                <a:latin typeface="Calibri" pitchFamily="34" charset="0"/>
                <a:ea typeface="Calibri" pitchFamily="34" charset="-122"/>
                <a:cs typeface="Calibri" pitchFamily="34" charset="-120"/>
              </a:rPr>
              <a:t>▶</a:t>
            </a:r>
            <a:endParaRPr lang="en-US" sz="1200" dirty="0"/>
          </a:p>
        </p:txBody>
      </p:sp>
      <p:sp>
        <p:nvSpPr>
          <p:cNvPr id="23" name="Shape 21"/>
          <p:cNvSpPr/>
          <p:nvPr/>
        </p:nvSpPr>
        <p:spPr>
          <a:xfrm>
            <a:off x="7388352" y="1600200"/>
            <a:ext cx="2048256" cy="2011680"/>
          </a:xfrm>
          <a:prstGeom prst="roundRect">
            <a:avLst>
              <a:gd name="adj" fmla="val 3182"/>
            </a:avLst>
          </a:prstGeom>
          <a:solidFill>
            <a:srgbClr val="065A82"/>
          </a:solidFill>
          <a:ln/>
        </p:spPr>
      </p:sp>
      <p:sp>
        <p:nvSpPr>
          <p:cNvPr id="24" name="Shape 22"/>
          <p:cNvSpPr/>
          <p:nvPr/>
        </p:nvSpPr>
        <p:spPr>
          <a:xfrm>
            <a:off x="8165592" y="1810512"/>
            <a:ext cx="493776" cy="493776"/>
          </a:xfrm>
          <a:prstGeom prst="ellipse">
            <a:avLst/>
          </a:prstGeom>
          <a:solidFill>
            <a:srgbClr val="FFFFFF"/>
          </a:solidFill>
          <a:ln/>
        </p:spPr>
      </p:sp>
      <p:sp>
        <p:nvSpPr>
          <p:cNvPr id="25" name="Text 23"/>
          <p:cNvSpPr/>
          <p:nvPr/>
        </p:nvSpPr>
        <p:spPr>
          <a:xfrm>
            <a:off x="8165592" y="1810512"/>
            <a:ext cx="493776" cy="493776"/>
          </a:xfrm>
          <a:prstGeom prst="rect">
            <a:avLst/>
          </a:prstGeom>
          <a:noFill/>
          <a:ln/>
        </p:spPr>
        <p:txBody>
          <a:bodyPr wrap="square" lIns="0" tIns="0" rIns="0" bIns="0" rtlCol="0" anchor="ctr"/>
          <a:lstStyle/>
          <a:p>
            <a:pPr algn="ctr" indent="0" marL="0">
              <a:buNone/>
            </a:pPr>
            <a:r>
              <a:rPr lang="en-US" sz="1700" b="1" dirty="0">
                <a:solidFill>
                  <a:srgbClr val="065A82"/>
                </a:solidFill>
                <a:latin typeface="Cambria" pitchFamily="34" charset="0"/>
                <a:ea typeface="Cambria" pitchFamily="34" charset="-122"/>
                <a:cs typeface="Cambria" pitchFamily="34" charset="-120"/>
              </a:rPr>
              <a:t>4</a:t>
            </a:r>
            <a:endParaRPr lang="en-US" sz="1700" dirty="0"/>
          </a:p>
        </p:txBody>
      </p:sp>
      <p:sp>
        <p:nvSpPr>
          <p:cNvPr id="26" name="Text 24"/>
          <p:cNvSpPr/>
          <p:nvPr/>
        </p:nvSpPr>
        <p:spPr>
          <a:xfrm>
            <a:off x="7516368" y="2432304"/>
            <a:ext cx="1792224" cy="2743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Cán bộ duyệt</a:t>
            </a:r>
            <a:endParaRPr lang="en-US" sz="1300" dirty="0"/>
          </a:p>
        </p:txBody>
      </p:sp>
      <p:sp>
        <p:nvSpPr>
          <p:cNvPr id="27" name="Text 25"/>
          <p:cNvSpPr/>
          <p:nvPr/>
        </p:nvSpPr>
        <p:spPr>
          <a:xfrm>
            <a:off x="7516368" y="2743200"/>
            <a:ext cx="1792224" cy="749808"/>
          </a:xfrm>
          <a:prstGeom prst="rect">
            <a:avLst/>
          </a:prstGeom>
          <a:noFill/>
          <a:ln/>
        </p:spPr>
        <p:txBody>
          <a:bodyPr wrap="square" lIns="0" tIns="0" rIns="0" bIns="0" rtlCol="0" anchor="ctr"/>
          <a:lstStyle/>
          <a:p>
            <a:pPr algn="ctr" indent="0" marL="0">
              <a:lnSpc>
                <a:spcPts val="1300"/>
              </a:lnSpc>
              <a:buNone/>
            </a:pPr>
            <a:r>
              <a:rPr lang="en-US" sz="950" dirty="0">
                <a:solidFill>
                  <a:srgbClr val="CADCFC"/>
                </a:solidFill>
                <a:latin typeface="Calibri" pitchFamily="34" charset="0"/>
                <a:ea typeface="Calibri" pitchFamily="34" charset="-122"/>
                <a:cs typeface="Calibri" pitchFamily="34" charset="-120"/>
              </a:rPr>
              <a:t>Xem, sửa, xác nhận — con người giữ quyền quyết định</a:t>
            </a:r>
            <a:endParaRPr lang="en-US" sz="950" dirty="0"/>
          </a:p>
        </p:txBody>
      </p:sp>
      <p:sp>
        <p:nvSpPr>
          <p:cNvPr id="28" name="Text 26"/>
          <p:cNvSpPr/>
          <p:nvPr/>
        </p:nvSpPr>
        <p:spPr>
          <a:xfrm>
            <a:off x="9436608" y="2487168"/>
            <a:ext cx="246888" cy="274320"/>
          </a:xfrm>
          <a:prstGeom prst="rect">
            <a:avLst/>
          </a:prstGeom>
          <a:noFill/>
          <a:ln/>
        </p:spPr>
        <p:txBody>
          <a:bodyPr wrap="square" lIns="0" tIns="0" rIns="0" bIns="0" rtlCol="0" anchor="ctr"/>
          <a:lstStyle/>
          <a:p>
            <a:pPr algn="ctr" indent="0" marL="0">
              <a:buNone/>
            </a:pPr>
            <a:r>
              <a:rPr lang="en-US" sz="1200" dirty="0">
                <a:solidFill>
                  <a:srgbClr val="1C7293"/>
                </a:solidFill>
                <a:latin typeface="Calibri" pitchFamily="34" charset="0"/>
                <a:ea typeface="Calibri" pitchFamily="34" charset="-122"/>
                <a:cs typeface="Calibri" pitchFamily="34" charset="-120"/>
              </a:rPr>
              <a:t>▶</a:t>
            </a:r>
            <a:endParaRPr lang="en-US" sz="1200" dirty="0"/>
          </a:p>
        </p:txBody>
      </p:sp>
      <p:sp>
        <p:nvSpPr>
          <p:cNvPr id="29" name="Shape 27"/>
          <p:cNvSpPr/>
          <p:nvPr/>
        </p:nvSpPr>
        <p:spPr>
          <a:xfrm>
            <a:off x="9683496" y="1600200"/>
            <a:ext cx="2048256" cy="2011680"/>
          </a:xfrm>
          <a:prstGeom prst="roundRect">
            <a:avLst>
              <a:gd name="adj" fmla="val 3182"/>
            </a:avLst>
          </a:prstGeom>
          <a:solidFill>
            <a:srgbClr val="E8F1F5"/>
          </a:solidFill>
          <a:ln/>
        </p:spPr>
      </p:sp>
      <p:sp>
        <p:nvSpPr>
          <p:cNvPr id="30" name="Shape 28"/>
          <p:cNvSpPr/>
          <p:nvPr/>
        </p:nvSpPr>
        <p:spPr>
          <a:xfrm>
            <a:off x="10460736" y="1810512"/>
            <a:ext cx="493776" cy="493776"/>
          </a:xfrm>
          <a:prstGeom prst="ellipse">
            <a:avLst/>
          </a:prstGeom>
          <a:solidFill>
            <a:srgbClr val="065A82"/>
          </a:solidFill>
          <a:ln/>
        </p:spPr>
      </p:sp>
      <p:sp>
        <p:nvSpPr>
          <p:cNvPr id="31" name="Text 29"/>
          <p:cNvSpPr/>
          <p:nvPr/>
        </p:nvSpPr>
        <p:spPr>
          <a:xfrm>
            <a:off x="10460736" y="1810512"/>
            <a:ext cx="493776" cy="493776"/>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5</a:t>
            </a:r>
            <a:endParaRPr lang="en-US" sz="1700" dirty="0"/>
          </a:p>
        </p:txBody>
      </p:sp>
      <p:sp>
        <p:nvSpPr>
          <p:cNvPr id="32" name="Text 30"/>
          <p:cNvSpPr/>
          <p:nvPr/>
        </p:nvSpPr>
        <p:spPr>
          <a:xfrm>
            <a:off x="9811512" y="2432304"/>
            <a:ext cx="1792224" cy="274320"/>
          </a:xfrm>
          <a:prstGeom prst="rect">
            <a:avLst/>
          </a:prstGeom>
          <a:noFill/>
          <a:ln/>
        </p:spPr>
        <p:txBody>
          <a:bodyPr wrap="square" lIns="0" tIns="0" rIns="0" bIns="0" rtlCol="0" anchor="ctr"/>
          <a:lstStyle/>
          <a:p>
            <a:pPr algn="ctr" indent="0" marL="0">
              <a:buNone/>
            </a:pPr>
            <a:r>
              <a:rPr lang="en-US" sz="1300" b="1" dirty="0">
                <a:solidFill>
                  <a:srgbClr val="21295C"/>
                </a:solidFill>
                <a:latin typeface="Cambria" pitchFamily="34" charset="0"/>
                <a:ea typeface="Cambria" pitchFamily="34" charset="-122"/>
                <a:cs typeface="Cambria" pitchFamily="34" charset="-120"/>
              </a:rPr>
              <a:t>Đẩy vào hệ thống</a:t>
            </a:r>
            <a:endParaRPr lang="en-US" sz="1300" dirty="0"/>
          </a:p>
        </p:txBody>
      </p:sp>
      <p:sp>
        <p:nvSpPr>
          <p:cNvPr id="33" name="Text 31"/>
          <p:cNvSpPr/>
          <p:nvPr/>
        </p:nvSpPr>
        <p:spPr>
          <a:xfrm>
            <a:off x="9811512" y="2743200"/>
            <a:ext cx="1792224" cy="749808"/>
          </a:xfrm>
          <a:prstGeom prst="rect">
            <a:avLst/>
          </a:prstGeom>
          <a:noFill/>
          <a:ln/>
        </p:spPr>
        <p:txBody>
          <a:bodyPr wrap="square" lIns="0" tIns="0" rIns="0" bIns="0" rtlCol="0" anchor="ctr"/>
          <a:lstStyle/>
          <a:p>
            <a:pPr algn="ctr" indent="0" marL="0">
              <a:lnSpc>
                <a:spcPts val="1300"/>
              </a:lnSpc>
              <a:buNone/>
            </a:pPr>
            <a:r>
              <a:rPr lang="en-US" sz="950" dirty="0">
                <a:solidFill>
                  <a:srgbClr val="55656F"/>
                </a:solidFill>
                <a:latin typeface="Calibri" pitchFamily="34" charset="0"/>
                <a:ea typeface="Calibri" pitchFamily="34" charset="-122"/>
                <a:cs typeface="Calibri" pitchFamily="34" charset="-120"/>
              </a:rPr>
              <a:t>Tự động gửi qua API vào hệ thống đích</a:t>
            </a:r>
            <a:endParaRPr lang="en-US" sz="950" dirty="0"/>
          </a:p>
        </p:txBody>
      </p:sp>
      <p:sp>
        <p:nvSpPr>
          <p:cNvPr id="34" name="Text 32"/>
          <p:cNvSpPr/>
          <p:nvPr/>
        </p:nvSpPr>
        <p:spPr>
          <a:xfrm>
            <a:off x="502920" y="3886200"/>
            <a:ext cx="5029200" cy="274320"/>
          </a:xfrm>
          <a:prstGeom prst="rect">
            <a:avLst/>
          </a:prstGeom>
          <a:noFill/>
          <a:ln/>
        </p:spPr>
        <p:txBody>
          <a:bodyPr wrap="square" lIns="0" tIns="0" rIns="0" bIns="0" rtlCol="0" anchor="ctr"/>
          <a:lstStyle/>
          <a:p>
            <a:pPr indent="0" marL="0">
              <a:buNone/>
            </a:pPr>
            <a:r>
              <a:rPr lang="en-US" sz="1500" b="1" dirty="0">
                <a:solidFill>
                  <a:srgbClr val="065A82"/>
                </a:solidFill>
                <a:latin typeface="Cambria" pitchFamily="34" charset="0"/>
                <a:ea typeface="Cambria" pitchFamily="34" charset="-122"/>
                <a:cs typeface="Cambria" pitchFamily="34" charset="-120"/>
              </a:rPr>
              <a:t>Bước 4 là điểm thiết kế quan trọng nhất</a:t>
            </a:r>
            <a:endParaRPr lang="en-US" sz="1500" dirty="0"/>
          </a:p>
        </p:txBody>
      </p:sp>
      <p:sp>
        <p:nvSpPr>
          <p:cNvPr id="35" name="Text 33"/>
          <p:cNvSpPr/>
          <p:nvPr/>
        </p:nvSpPr>
        <p:spPr>
          <a:xfrm>
            <a:off x="502920" y="4206240"/>
            <a:ext cx="11155680" cy="548640"/>
          </a:xfrm>
          <a:prstGeom prst="rect">
            <a:avLst/>
          </a:prstGeom>
          <a:noFill/>
          <a:ln/>
        </p:spPr>
        <p:txBody>
          <a:bodyPr wrap="square" lIns="0" tIns="0" rIns="0" bIns="0" rtlCol="0" anchor="ctr"/>
          <a:lstStyle/>
          <a:p>
            <a:pPr indent="0" marL="0">
              <a:lnSpc>
                <a:spcPts val="1800"/>
              </a:lnSpc>
              <a:buNone/>
            </a:pPr>
            <a:r>
              <a:rPr lang="en-US" sz="1250" dirty="0">
                <a:solidFill>
                  <a:srgbClr val="4A5A64"/>
                </a:solidFill>
                <a:latin typeface="Calibri" pitchFamily="34" charset="0"/>
                <a:ea typeface="Calibri" pitchFamily="34" charset="-122"/>
                <a:cs typeface="Calibri" pitchFamily="34" charset="-120"/>
              </a:rPr>
              <a:t>Hệ thống không bao giờ ghi dữ liệu mà không có người xác nhận. Đây vừa là quyết định kỹ thuật (giảm rủi ro mô hình bịa dữ liệu), vừa là quyết định quản trị (giữ trách nhiệm ở đúng chỗ), vừa là điều kiện pháp lý để khu vực công dám sử dụng.</a:t>
            </a:r>
            <a:endParaRPr lang="en-US" sz="1250" dirty="0"/>
          </a:p>
        </p:txBody>
      </p:sp>
      <p:sp>
        <p:nvSpPr>
          <p:cNvPr id="36" name="Shape 34"/>
          <p:cNvSpPr/>
          <p:nvPr/>
        </p:nvSpPr>
        <p:spPr>
          <a:xfrm>
            <a:off x="502920" y="4937760"/>
            <a:ext cx="5394960" cy="1234440"/>
          </a:xfrm>
          <a:prstGeom prst="roundRect">
            <a:avLst>
              <a:gd name="adj" fmla="val 5185"/>
            </a:avLst>
          </a:prstGeom>
          <a:solidFill>
            <a:srgbClr val="F0F0F0"/>
          </a:solidFill>
          <a:ln/>
          <a:effectLst>
            <a:outerShdw sx="100000" sy="100000" kx="0" ky="0" algn="bl" rotWithShape="0" blurRad="76200" dist="19050" dir="5400000">
              <a:srgbClr val="9AAAB5">
                <a:alpha val="30000"/>
              </a:srgbClr>
            </a:outerShdw>
          </a:effectLst>
        </p:spPr>
      </p:sp>
      <p:sp>
        <p:nvSpPr>
          <p:cNvPr id="37" name="Text 35"/>
          <p:cNvSpPr/>
          <p:nvPr/>
        </p:nvSpPr>
        <p:spPr>
          <a:xfrm>
            <a:off x="777240" y="5102352"/>
            <a:ext cx="4846320" cy="274320"/>
          </a:xfrm>
          <a:prstGeom prst="rect">
            <a:avLst/>
          </a:prstGeom>
          <a:noFill/>
          <a:ln/>
        </p:spPr>
        <p:txBody>
          <a:bodyPr wrap="square" lIns="0" tIns="0" rIns="0" bIns="0" rtlCol="0" anchor="ctr"/>
          <a:lstStyle/>
          <a:p>
            <a:pPr indent="0" marL="0">
              <a:buNone/>
            </a:pPr>
            <a:r>
              <a:rPr lang="en-US" sz="1400" b="1" dirty="0">
                <a:solidFill>
                  <a:srgbClr val="55656F"/>
                </a:solidFill>
                <a:latin typeface="Cambria" pitchFamily="34" charset="0"/>
                <a:ea typeface="Cambria" pitchFamily="34" charset="-122"/>
                <a:cs typeface="Cambria" pitchFamily="34" charset="-120"/>
              </a:rPr>
              <a:t>OCR thông thường</a:t>
            </a:r>
            <a:endParaRPr lang="en-US" sz="1400" dirty="0"/>
          </a:p>
        </p:txBody>
      </p:sp>
      <p:sp>
        <p:nvSpPr>
          <p:cNvPr id="38" name="Text 36"/>
          <p:cNvSpPr/>
          <p:nvPr/>
        </p:nvSpPr>
        <p:spPr>
          <a:xfrm>
            <a:off x="777240" y="5413248"/>
            <a:ext cx="4846320" cy="548640"/>
          </a:xfrm>
          <a:prstGeom prst="rect">
            <a:avLst/>
          </a:prstGeom>
          <a:noFill/>
          <a:ln/>
        </p:spPr>
        <p:txBody>
          <a:bodyPr wrap="square" lIns="0" tIns="0" rIns="0" bIns="0" rtlCol="0" anchor="ctr"/>
          <a:lstStyle/>
          <a:p>
            <a:pPr indent="0" marL="0">
              <a:lnSpc>
                <a:spcPts val="1600"/>
              </a:lnSpc>
              <a:buNone/>
            </a:pPr>
            <a:r>
              <a:rPr lang="en-US" sz="1150" dirty="0">
                <a:solidFill>
                  <a:srgbClr val="6A7A84"/>
                </a:solidFill>
                <a:latin typeface="Calibri" pitchFamily="34" charset="0"/>
                <a:ea typeface="Calibri" pitchFamily="34" charset="-122"/>
                <a:cs typeface="Calibri" pitchFamily="34" charset="-120"/>
              </a:rPr>
              <a:t>Văn bản thô — vẫn phải nhập trường thủ công</a:t>
            </a:r>
            <a:endParaRPr lang="en-US" sz="1150" dirty="0"/>
          </a:p>
        </p:txBody>
      </p:sp>
      <p:sp>
        <p:nvSpPr>
          <p:cNvPr id="39" name="Shape 37"/>
          <p:cNvSpPr/>
          <p:nvPr/>
        </p:nvSpPr>
        <p:spPr>
          <a:xfrm>
            <a:off x="6263640" y="4937760"/>
            <a:ext cx="5394960" cy="1234440"/>
          </a:xfrm>
          <a:prstGeom prst="roundRect">
            <a:avLst>
              <a:gd name="adj" fmla="val 5185"/>
            </a:avLst>
          </a:prstGeom>
          <a:solidFill>
            <a:srgbClr val="E8F1F5"/>
          </a:solidFill>
          <a:ln/>
          <a:effectLst>
            <a:outerShdw sx="100000" sy="100000" kx="0" ky="0" algn="bl" rotWithShape="0" blurRad="76200" dist="19050" dir="5400000">
              <a:srgbClr val="9AAAB5">
                <a:alpha val="30000"/>
              </a:srgbClr>
            </a:outerShdw>
          </a:effectLst>
        </p:spPr>
      </p:sp>
      <p:sp>
        <p:nvSpPr>
          <p:cNvPr id="40" name="Text 38"/>
          <p:cNvSpPr/>
          <p:nvPr/>
        </p:nvSpPr>
        <p:spPr>
          <a:xfrm>
            <a:off x="6537960" y="5102352"/>
            <a:ext cx="4846320" cy="274320"/>
          </a:xfrm>
          <a:prstGeom prst="rect">
            <a:avLst/>
          </a:prstGeom>
          <a:noFill/>
          <a:ln/>
        </p:spPr>
        <p:txBody>
          <a:bodyPr wrap="square" lIns="0" tIns="0" rIns="0" bIns="0" rtlCol="0" anchor="ctr"/>
          <a:lstStyle/>
          <a:p>
            <a:pPr indent="0" marL="0">
              <a:buNone/>
            </a:pPr>
            <a:r>
              <a:rPr lang="en-US" sz="1400" b="1" dirty="0">
                <a:solidFill>
                  <a:srgbClr val="21295C"/>
                </a:solidFill>
                <a:latin typeface="Cambria" pitchFamily="34" charset="0"/>
                <a:ea typeface="Cambria" pitchFamily="34" charset="-122"/>
                <a:cs typeface="Cambria" pitchFamily="34" charset="-120"/>
              </a:rPr>
              <a:t>DocuFlow HP</a:t>
            </a:r>
            <a:endParaRPr lang="en-US" sz="1400" dirty="0"/>
          </a:p>
        </p:txBody>
      </p:sp>
      <p:sp>
        <p:nvSpPr>
          <p:cNvPr id="41" name="Text 39"/>
          <p:cNvSpPr/>
          <p:nvPr/>
        </p:nvSpPr>
        <p:spPr>
          <a:xfrm>
            <a:off x="6537960" y="5413248"/>
            <a:ext cx="4846320" cy="548640"/>
          </a:xfrm>
          <a:prstGeom prst="rect">
            <a:avLst/>
          </a:prstGeom>
          <a:noFill/>
          <a:ln/>
        </p:spPr>
        <p:txBody>
          <a:bodyPr wrap="square" lIns="0" tIns="0" rIns="0" bIns="0" rtlCol="0" anchor="ctr"/>
          <a:lstStyle/>
          <a:p>
            <a:pPr indent="0" marL="0">
              <a:lnSpc>
                <a:spcPts val="1600"/>
              </a:lnSpc>
              <a:buNone/>
            </a:pPr>
            <a:r>
              <a:rPr lang="en-US" sz="1150" dirty="0">
                <a:solidFill>
                  <a:srgbClr val="4A5A64"/>
                </a:solidFill>
                <a:latin typeface="Calibri" pitchFamily="34" charset="0"/>
                <a:ea typeface="Calibri" pitchFamily="34" charset="-122"/>
                <a:cs typeface="Calibri" pitchFamily="34" charset="-120"/>
              </a:rPr>
              <a:t>Dữ liệu có cấu trúc theo từng trường — sẵn sàng vào hệ thống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03</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Kiến trúc hệ thống</a:t>
            </a:r>
            <a:endParaRPr lang="en-US" sz="3000" dirty="0"/>
          </a:p>
        </p:txBody>
      </p:sp>
      <p:sp>
        <p:nvSpPr>
          <p:cNvPr id="4" name="Text 2"/>
          <p:cNvSpPr/>
          <p:nvPr/>
        </p:nvSpPr>
        <p:spPr>
          <a:xfrm>
            <a:off x="1143000" y="859536"/>
            <a:ext cx="10515600" cy="310896"/>
          </a:xfrm>
          <a:prstGeom prst="rect">
            <a:avLst/>
          </a:prstGeom>
          <a:noFill/>
          <a:ln/>
        </p:spPr>
        <p:txBody>
          <a:bodyPr wrap="square" lIns="0" tIns="0" rIns="0" bIns="0" rtlCol="0" anchor="ctr"/>
          <a:lstStyle/>
          <a:p>
            <a:pPr algn="l" indent="0" marL="0">
              <a:buNone/>
            </a:pPr>
            <a:r>
              <a:rPr lang="en-US" sz="1350" i="1" dirty="0">
                <a:solidFill>
                  <a:srgbClr val="5A6B75"/>
                </a:solidFill>
                <a:latin typeface="Calibri" pitchFamily="34" charset="0"/>
                <a:ea typeface="Calibri" pitchFamily="34" charset="-122"/>
                <a:cs typeface="Calibri" pitchFamily="34" charset="-120"/>
              </a:rPr>
              <a:t>Microservices trên Docker Compose — triển khai được tại chỗ hoặc trên đám mây</a:t>
            </a:r>
            <a:endParaRPr lang="en-US" sz="1350" dirty="0"/>
          </a:p>
        </p:txBody>
      </p:sp>
      <p:sp>
        <p:nvSpPr>
          <p:cNvPr id="5" name="Shape 3"/>
          <p:cNvSpPr/>
          <p:nvPr/>
        </p:nvSpPr>
        <p:spPr>
          <a:xfrm>
            <a:off x="502920" y="1481328"/>
            <a:ext cx="1600200" cy="640080"/>
          </a:xfrm>
          <a:prstGeom prst="roundRect">
            <a:avLst>
              <a:gd name="adj" fmla="val 8571"/>
            </a:avLst>
          </a:prstGeom>
          <a:solidFill>
            <a:srgbClr val="1C7293"/>
          </a:solidFill>
          <a:ln/>
        </p:spPr>
      </p:sp>
      <p:sp>
        <p:nvSpPr>
          <p:cNvPr id="6" name="Text 4"/>
          <p:cNvSpPr/>
          <p:nvPr/>
        </p:nvSpPr>
        <p:spPr>
          <a:xfrm>
            <a:off x="502920" y="1481328"/>
            <a:ext cx="1600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Giao diện</a:t>
            </a:r>
            <a:endParaRPr lang="en-US" sz="1200" dirty="0"/>
          </a:p>
        </p:txBody>
      </p:sp>
      <p:sp>
        <p:nvSpPr>
          <p:cNvPr id="7" name="Shape 5"/>
          <p:cNvSpPr/>
          <p:nvPr/>
        </p:nvSpPr>
        <p:spPr>
          <a:xfrm>
            <a:off x="2240280" y="1481328"/>
            <a:ext cx="4572000" cy="640080"/>
          </a:xfrm>
          <a:prstGeom prst="roundRect">
            <a:avLst>
              <a:gd name="adj" fmla="val 10000"/>
            </a:avLst>
          </a:prstGeom>
          <a:solidFill>
            <a:srgbClr val="F5F9FB"/>
          </a:solidFill>
          <a:ln/>
          <a:effectLst>
            <a:outerShdw sx="100000" sy="100000" kx="0" ky="0" algn="bl" rotWithShape="0" blurRad="76200" dist="19050" dir="5400000">
              <a:srgbClr val="9AAAB5">
                <a:alpha val="30000"/>
              </a:srgbClr>
            </a:outerShdw>
          </a:effectLst>
        </p:spPr>
      </p:sp>
      <p:sp>
        <p:nvSpPr>
          <p:cNvPr id="8" name="Text 6"/>
          <p:cNvSpPr/>
          <p:nvPr/>
        </p:nvSpPr>
        <p:spPr>
          <a:xfrm>
            <a:off x="2423160" y="1563624"/>
            <a:ext cx="429768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Next.js (React)</a:t>
            </a:r>
            <a:endParaRPr lang="en-US" sz="1150" dirty="0"/>
          </a:p>
        </p:txBody>
      </p:sp>
      <p:sp>
        <p:nvSpPr>
          <p:cNvPr id="9" name="Text 7"/>
          <p:cNvSpPr/>
          <p:nvPr/>
        </p:nvSpPr>
        <p:spPr>
          <a:xfrm>
            <a:off x="2423160" y="1819656"/>
            <a:ext cx="4297680" cy="237744"/>
          </a:xfrm>
          <a:prstGeom prst="rect">
            <a:avLst/>
          </a:prstGeom>
          <a:noFill/>
          <a:ln/>
        </p:spPr>
        <p:txBody>
          <a:bodyPr wrap="square" lIns="0" tIns="0" rIns="0" bIns="0" rtlCol="0" anchor="ctr"/>
          <a:lstStyle/>
          <a:p>
            <a:pPr indent="0" marL="0">
              <a:buNone/>
            </a:pPr>
            <a:r>
              <a:rPr lang="en-US" sz="1000" dirty="0">
                <a:solidFill>
                  <a:srgbClr val="5A6B75"/>
                </a:solidFill>
                <a:latin typeface="Calibri" pitchFamily="34" charset="0"/>
                <a:ea typeface="Calibri" pitchFamily="34" charset="-122"/>
                <a:cs typeface="Calibri" pitchFamily="34" charset="-120"/>
              </a:rPr>
              <a:t>Bảng điều khiển, theo dõi tiến trình thời gian thực</a:t>
            </a:r>
            <a:endParaRPr lang="en-US" sz="1000" dirty="0"/>
          </a:p>
        </p:txBody>
      </p:sp>
      <p:sp>
        <p:nvSpPr>
          <p:cNvPr id="10" name="Shape 8"/>
          <p:cNvSpPr/>
          <p:nvPr/>
        </p:nvSpPr>
        <p:spPr>
          <a:xfrm>
            <a:off x="502920" y="2267712"/>
            <a:ext cx="1600200" cy="640080"/>
          </a:xfrm>
          <a:prstGeom prst="roundRect">
            <a:avLst>
              <a:gd name="adj" fmla="val 8571"/>
            </a:avLst>
          </a:prstGeom>
          <a:solidFill>
            <a:srgbClr val="065A82"/>
          </a:solidFill>
          <a:ln/>
        </p:spPr>
      </p:sp>
      <p:sp>
        <p:nvSpPr>
          <p:cNvPr id="11" name="Text 9"/>
          <p:cNvSpPr/>
          <p:nvPr/>
        </p:nvSpPr>
        <p:spPr>
          <a:xfrm>
            <a:off x="502920" y="2267712"/>
            <a:ext cx="1600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Nghiệp vụ</a:t>
            </a:r>
            <a:endParaRPr lang="en-US" sz="1200" dirty="0"/>
          </a:p>
        </p:txBody>
      </p:sp>
      <p:sp>
        <p:nvSpPr>
          <p:cNvPr id="12" name="Shape 10"/>
          <p:cNvSpPr/>
          <p:nvPr/>
        </p:nvSpPr>
        <p:spPr>
          <a:xfrm>
            <a:off x="2240280" y="2267712"/>
            <a:ext cx="4572000" cy="640080"/>
          </a:xfrm>
          <a:prstGeom prst="roundRect">
            <a:avLst>
              <a:gd name="adj" fmla="val 10000"/>
            </a:avLst>
          </a:prstGeom>
          <a:solidFill>
            <a:srgbClr val="F5F9FB"/>
          </a:solidFill>
          <a:ln/>
          <a:effectLst>
            <a:outerShdw sx="100000" sy="100000" kx="0" ky="0" algn="bl" rotWithShape="0" blurRad="76200" dist="19050" dir="5400000">
              <a:srgbClr val="9AAAB5">
                <a:alpha val="30000"/>
              </a:srgbClr>
            </a:outerShdw>
          </a:effectLst>
        </p:spPr>
      </p:sp>
      <p:sp>
        <p:nvSpPr>
          <p:cNvPr id="13" name="Text 11"/>
          <p:cNvSpPr/>
          <p:nvPr/>
        </p:nvSpPr>
        <p:spPr>
          <a:xfrm>
            <a:off x="2423160" y="2350008"/>
            <a:ext cx="429768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Python FastAPI</a:t>
            </a:r>
            <a:endParaRPr lang="en-US" sz="1150" dirty="0"/>
          </a:p>
        </p:txBody>
      </p:sp>
      <p:sp>
        <p:nvSpPr>
          <p:cNvPr id="14" name="Text 12"/>
          <p:cNvSpPr/>
          <p:nvPr/>
        </p:nvSpPr>
        <p:spPr>
          <a:xfrm>
            <a:off x="2423160" y="2606040"/>
            <a:ext cx="4297680" cy="237744"/>
          </a:xfrm>
          <a:prstGeom prst="rect">
            <a:avLst/>
          </a:prstGeom>
          <a:noFill/>
          <a:ln/>
        </p:spPr>
        <p:txBody>
          <a:bodyPr wrap="square" lIns="0" tIns="0" rIns="0" bIns="0" rtlCol="0" anchor="ctr"/>
          <a:lstStyle/>
          <a:p>
            <a:pPr indent="0" marL="0">
              <a:buNone/>
            </a:pPr>
            <a:r>
              <a:rPr lang="en-US" sz="1000" dirty="0">
                <a:solidFill>
                  <a:srgbClr val="5A6B75"/>
                </a:solidFill>
                <a:latin typeface="Calibri" pitchFamily="34" charset="0"/>
                <a:ea typeface="Calibri" pitchFamily="34" charset="-122"/>
                <a:cs typeface="Calibri" pitchFamily="34" charset="-120"/>
              </a:rPr>
              <a:t>REST API, quản lý hàng đợi công việc</a:t>
            </a:r>
            <a:endParaRPr lang="en-US" sz="1000" dirty="0"/>
          </a:p>
        </p:txBody>
      </p:sp>
      <p:sp>
        <p:nvSpPr>
          <p:cNvPr id="15" name="Shape 13"/>
          <p:cNvSpPr/>
          <p:nvPr/>
        </p:nvSpPr>
        <p:spPr>
          <a:xfrm>
            <a:off x="502920" y="3054096"/>
            <a:ext cx="1600200" cy="640080"/>
          </a:xfrm>
          <a:prstGeom prst="roundRect">
            <a:avLst>
              <a:gd name="adj" fmla="val 8571"/>
            </a:avLst>
          </a:prstGeom>
          <a:solidFill>
            <a:srgbClr val="065A82"/>
          </a:solidFill>
          <a:ln/>
        </p:spPr>
      </p:sp>
      <p:sp>
        <p:nvSpPr>
          <p:cNvPr id="16" name="Text 14"/>
          <p:cNvSpPr/>
          <p:nvPr/>
        </p:nvSpPr>
        <p:spPr>
          <a:xfrm>
            <a:off x="502920" y="3054096"/>
            <a:ext cx="1600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Xử lý</a:t>
            </a:r>
            <a:endParaRPr lang="en-US" sz="1200" dirty="0"/>
          </a:p>
        </p:txBody>
      </p:sp>
      <p:sp>
        <p:nvSpPr>
          <p:cNvPr id="17" name="Shape 15"/>
          <p:cNvSpPr/>
          <p:nvPr/>
        </p:nvSpPr>
        <p:spPr>
          <a:xfrm>
            <a:off x="2240280" y="3054096"/>
            <a:ext cx="4572000" cy="640080"/>
          </a:xfrm>
          <a:prstGeom prst="roundRect">
            <a:avLst>
              <a:gd name="adj" fmla="val 10000"/>
            </a:avLst>
          </a:prstGeom>
          <a:solidFill>
            <a:srgbClr val="F5F9FB"/>
          </a:solidFill>
          <a:ln/>
          <a:effectLst>
            <a:outerShdw sx="100000" sy="100000" kx="0" ky="0" algn="bl" rotWithShape="0" blurRad="76200" dist="19050" dir="5400000">
              <a:srgbClr val="9AAAB5">
                <a:alpha val="30000"/>
              </a:srgbClr>
            </a:outerShdw>
          </a:effectLst>
        </p:spPr>
      </p:sp>
      <p:sp>
        <p:nvSpPr>
          <p:cNvPr id="18" name="Text 16"/>
          <p:cNvSpPr/>
          <p:nvPr/>
        </p:nvSpPr>
        <p:spPr>
          <a:xfrm>
            <a:off x="2423160" y="3136392"/>
            <a:ext cx="429768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OCRmyPDF · Tesseract · Ghostscript</a:t>
            </a:r>
            <a:endParaRPr lang="en-US" sz="1150" dirty="0"/>
          </a:p>
        </p:txBody>
      </p:sp>
      <p:sp>
        <p:nvSpPr>
          <p:cNvPr id="19" name="Text 17"/>
          <p:cNvSpPr/>
          <p:nvPr/>
        </p:nvSpPr>
        <p:spPr>
          <a:xfrm>
            <a:off x="2423160" y="3392424"/>
            <a:ext cx="4297680" cy="237744"/>
          </a:xfrm>
          <a:prstGeom prst="rect">
            <a:avLst/>
          </a:prstGeom>
          <a:noFill/>
          <a:ln/>
        </p:spPr>
        <p:txBody>
          <a:bodyPr wrap="square" lIns="0" tIns="0" rIns="0" bIns="0" rtlCol="0" anchor="ctr"/>
          <a:lstStyle/>
          <a:p>
            <a:pPr indent="0" marL="0">
              <a:buNone/>
            </a:pPr>
            <a:r>
              <a:rPr lang="en-US" sz="1000" dirty="0">
                <a:solidFill>
                  <a:srgbClr val="5A6B75"/>
                </a:solidFill>
                <a:latin typeface="Calibri" pitchFamily="34" charset="0"/>
                <a:ea typeface="Calibri" pitchFamily="34" charset="-122"/>
                <a:cs typeface="Calibri" pitchFamily="34" charset="-120"/>
              </a:rPr>
              <a:t>Nhận dạng ký tự, tối ưu dung lượng, xử lý song song</a:t>
            </a:r>
            <a:endParaRPr lang="en-US" sz="1000" dirty="0"/>
          </a:p>
        </p:txBody>
      </p:sp>
      <p:sp>
        <p:nvSpPr>
          <p:cNvPr id="20" name="Shape 18"/>
          <p:cNvSpPr/>
          <p:nvPr/>
        </p:nvSpPr>
        <p:spPr>
          <a:xfrm>
            <a:off x="502920" y="3840480"/>
            <a:ext cx="1600200" cy="640080"/>
          </a:xfrm>
          <a:prstGeom prst="roundRect">
            <a:avLst>
              <a:gd name="adj" fmla="val 8571"/>
            </a:avLst>
          </a:prstGeom>
          <a:solidFill>
            <a:srgbClr val="21295C"/>
          </a:solidFill>
          <a:ln/>
        </p:spPr>
      </p:sp>
      <p:sp>
        <p:nvSpPr>
          <p:cNvPr id="21" name="Text 19"/>
          <p:cNvSpPr/>
          <p:nvPr/>
        </p:nvSpPr>
        <p:spPr>
          <a:xfrm>
            <a:off x="502920" y="3840480"/>
            <a:ext cx="1600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Trí tuệ nhân tạo</a:t>
            </a:r>
            <a:endParaRPr lang="en-US" sz="1200" dirty="0"/>
          </a:p>
        </p:txBody>
      </p:sp>
      <p:sp>
        <p:nvSpPr>
          <p:cNvPr id="22" name="Shape 20"/>
          <p:cNvSpPr/>
          <p:nvPr/>
        </p:nvSpPr>
        <p:spPr>
          <a:xfrm>
            <a:off x="2240280" y="3840480"/>
            <a:ext cx="4572000" cy="640080"/>
          </a:xfrm>
          <a:prstGeom prst="roundRect">
            <a:avLst>
              <a:gd name="adj" fmla="val 10000"/>
            </a:avLst>
          </a:prstGeom>
          <a:solidFill>
            <a:srgbClr val="F5F9FB"/>
          </a:solidFill>
          <a:ln/>
          <a:effectLst>
            <a:outerShdw sx="100000" sy="100000" kx="0" ky="0" algn="bl" rotWithShape="0" blurRad="76200" dist="19050" dir="5400000">
              <a:srgbClr val="9AAAB5">
                <a:alpha val="30000"/>
              </a:srgbClr>
            </a:outerShdw>
          </a:effectLst>
        </p:spPr>
      </p:sp>
      <p:sp>
        <p:nvSpPr>
          <p:cNvPr id="23" name="Text 21"/>
          <p:cNvSpPr/>
          <p:nvPr/>
        </p:nvSpPr>
        <p:spPr>
          <a:xfrm>
            <a:off x="2423160" y="3922776"/>
            <a:ext cx="429768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Mô hình mở chạy tại chỗ, hoặc API đám mây</a:t>
            </a:r>
            <a:endParaRPr lang="en-US" sz="1150" dirty="0"/>
          </a:p>
        </p:txBody>
      </p:sp>
      <p:sp>
        <p:nvSpPr>
          <p:cNvPr id="24" name="Text 22"/>
          <p:cNvSpPr/>
          <p:nvPr/>
        </p:nvSpPr>
        <p:spPr>
          <a:xfrm>
            <a:off x="2423160" y="4178808"/>
            <a:ext cx="4297680" cy="237744"/>
          </a:xfrm>
          <a:prstGeom prst="rect">
            <a:avLst/>
          </a:prstGeom>
          <a:noFill/>
          <a:ln/>
        </p:spPr>
        <p:txBody>
          <a:bodyPr wrap="square" lIns="0" tIns="0" rIns="0" bIns="0" rtlCol="0" anchor="ctr"/>
          <a:lstStyle/>
          <a:p>
            <a:pPr indent="0" marL="0">
              <a:buNone/>
            </a:pPr>
            <a:r>
              <a:rPr lang="en-US" sz="1000" dirty="0">
                <a:solidFill>
                  <a:srgbClr val="5A6B75"/>
                </a:solidFill>
                <a:latin typeface="Calibri" pitchFamily="34" charset="0"/>
                <a:ea typeface="Calibri" pitchFamily="34" charset="-122"/>
                <a:cs typeface="Calibri" pitchFamily="34" charset="-120"/>
              </a:rPr>
              <a:t>Bóc tách trường theo lược đồ — chế độ chọn tự động theo độ nhạy cảm</a:t>
            </a:r>
            <a:endParaRPr lang="en-US" sz="1000" dirty="0"/>
          </a:p>
        </p:txBody>
      </p:sp>
      <p:sp>
        <p:nvSpPr>
          <p:cNvPr id="25" name="Shape 23"/>
          <p:cNvSpPr/>
          <p:nvPr/>
        </p:nvSpPr>
        <p:spPr>
          <a:xfrm>
            <a:off x="502920" y="4626864"/>
            <a:ext cx="1600200" cy="640080"/>
          </a:xfrm>
          <a:prstGeom prst="roundRect">
            <a:avLst>
              <a:gd name="adj" fmla="val 8571"/>
            </a:avLst>
          </a:prstGeom>
          <a:solidFill>
            <a:srgbClr val="1C7293"/>
          </a:solidFill>
          <a:ln/>
        </p:spPr>
      </p:sp>
      <p:sp>
        <p:nvSpPr>
          <p:cNvPr id="26" name="Text 24"/>
          <p:cNvSpPr/>
          <p:nvPr/>
        </p:nvSpPr>
        <p:spPr>
          <a:xfrm>
            <a:off x="502920" y="4626864"/>
            <a:ext cx="1600200"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Dữ liệu</a:t>
            </a:r>
            <a:endParaRPr lang="en-US" sz="1200" dirty="0"/>
          </a:p>
        </p:txBody>
      </p:sp>
      <p:sp>
        <p:nvSpPr>
          <p:cNvPr id="27" name="Shape 25"/>
          <p:cNvSpPr/>
          <p:nvPr/>
        </p:nvSpPr>
        <p:spPr>
          <a:xfrm>
            <a:off x="2240280" y="4626864"/>
            <a:ext cx="4572000" cy="640080"/>
          </a:xfrm>
          <a:prstGeom prst="roundRect">
            <a:avLst>
              <a:gd name="adj" fmla="val 10000"/>
            </a:avLst>
          </a:prstGeom>
          <a:solidFill>
            <a:srgbClr val="F5F9FB"/>
          </a:solidFill>
          <a:ln/>
          <a:effectLst>
            <a:outerShdw sx="100000" sy="100000" kx="0" ky="0" algn="bl" rotWithShape="0" blurRad="76200" dist="19050" dir="5400000">
              <a:srgbClr val="9AAAB5">
                <a:alpha val="30000"/>
              </a:srgbClr>
            </a:outerShdw>
          </a:effectLst>
        </p:spPr>
      </p:sp>
      <p:sp>
        <p:nvSpPr>
          <p:cNvPr id="28" name="Text 26"/>
          <p:cNvSpPr/>
          <p:nvPr/>
        </p:nvSpPr>
        <p:spPr>
          <a:xfrm>
            <a:off x="2423160" y="4709160"/>
            <a:ext cx="429768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PostgreSQL 15 · Redis 7</a:t>
            </a:r>
            <a:endParaRPr lang="en-US" sz="1150" dirty="0"/>
          </a:p>
        </p:txBody>
      </p:sp>
      <p:sp>
        <p:nvSpPr>
          <p:cNvPr id="29" name="Text 27"/>
          <p:cNvSpPr/>
          <p:nvPr/>
        </p:nvSpPr>
        <p:spPr>
          <a:xfrm>
            <a:off x="2423160" y="4965192"/>
            <a:ext cx="4297680" cy="237744"/>
          </a:xfrm>
          <a:prstGeom prst="rect">
            <a:avLst/>
          </a:prstGeom>
          <a:noFill/>
          <a:ln/>
        </p:spPr>
        <p:txBody>
          <a:bodyPr wrap="square" lIns="0" tIns="0" rIns="0" bIns="0" rtlCol="0" anchor="ctr"/>
          <a:lstStyle/>
          <a:p>
            <a:pPr indent="0" marL="0">
              <a:buNone/>
            </a:pPr>
            <a:r>
              <a:rPr lang="en-US" sz="1000" dirty="0">
                <a:solidFill>
                  <a:srgbClr val="5A6B75"/>
                </a:solidFill>
                <a:latin typeface="Calibri" pitchFamily="34" charset="0"/>
                <a:ea typeface="Calibri" pitchFamily="34" charset="-122"/>
                <a:cs typeface="Calibri" pitchFamily="34" charset="-120"/>
              </a:rPr>
              <a:t>Lưu trữ công việc, dữ liệu, nhật ký; điều phối hàng đợi</a:t>
            </a:r>
            <a:endParaRPr lang="en-US" sz="1000" dirty="0"/>
          </a:p>
        </p:txBody>
      </p:sp>
      <p:sp>
        <p:nvSpPr>
          <p:cNvPr id="30" name="Shape 28"/>
          <p:cNvSpPr/>
          <p:nvPr/>
        </p:nvSpPr>
        <p:spPr>
          <a:xfrm>
            <a:off x="7086600" y="1481328"/>
            <a:ext cx="4572000" cy="2761488"/>
          </a:xfrm>
          <a:prstGeom prst="roundRect">
            <a:avLst>
              <a:gd name="adj" fmla="val 2318"/>
            </a:avLst>
          </a:prstGeom>
          <a:solidFill>
            <a:srgbClr val="E8F1F5"/>
          </a:solidFill>
          <a:ln/>
          <a:effectLst>
            <a:outerShdw sx="100000" sy="100000" kx="0" ky="0" algn="bl" rotWithShape="0" blurRad="76200" dist="19050" dir="5400000">
              <a:srgbClr val="9AAAB5">
                <a:alpha val="30000"/>
              </a:srgbClr>
            </a:outerShdw>
          </a:effectLst>
        </p:spPr>
      </p:sp>
      <p:sp>
        <p:nvSpPr>
          <p:cNvPr id="31" name="Text 29"/>
          <p:cNvSpPr/>
          <p:nvPr/>
        </p:nvSpPr>
        <p:spPr>
          <a:xfrm>
            <a:off x="7360920" y="1645920"/>
            <a:ext cx="4023360" cy="274320"/>
          </a:xfrm>
          <a:prstGeom prst="rect">
            <a:avLst/>
          </a:prstGeom>
          <a:noFill/>
          <a:ln/>
        </p:spPr>
        <p:txBody>
          <a:bodyPr wrap="square" lIns="0" tIns="0" rIns="0" bIns="0" rtlCol="0" anchor="ctr"/>
          <a:lstStyle/>
          <a:p>
            <a:pPr indent="0" marL="0">
              <a:buNone/>
            </a:pPr>
            <a:r>
              <a:rPr lang="en-US" sz="1500" b="1" dirty="0">
                <a:solidFill>
                  <a:srgbClr val="21295C"/>
                </a:solidFill>
                <a:latin typeface="Cambria" pitchFamily="34" charset="0"/>
                <a:ea typeface="Cambria" pitchFamily="34" charset="-122"/>
                <a:cs typeface="Cambria" pitchFamily="34" charset="-120"/>
              </a:rPr>
              <a:t>Đầu ra chuẩn hóa</a:t>
            </a:r>
            <a:endParaRPr lang="en-US" sz="1500" dirty="0"/>
          </a:p>
        </p:txBody>
      </p:sp>
      <p:sp>
        <p:nvSpPr>
          <p:cNvPr id="32" name="Text 30"/>
          <p:cNvSpPr/>
          <p:nvPr/>
        </p:nvSpPr>
        <p:spPr>
          <a:xfrm>
            <a:off x="7360920" y="2011680"/>
            <a:ext cx="4023360" cy="237744"/>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PDF/A-2b</a:t>
            </a:r>
            <a:endParaRPr lang="en-US" sz="1200" dirty="0"/>
          </a:p>
        </p:txBody>
      </p:sp>
      <p:sp>
        <p:nvSpPr>
          <p:cNvPr id="33" name="Text 31"/>
          <p:cNvSpPr/>
          <p:nvPr/>
        </p:nvSpPr>
        <p:spPr>
          <a:xfrm>
            <a:off x="7360920" y="2249424"/>
            <a:ext cx="4023360" cy="411480"/>
          </a:xfrm>
          <a:prstGeom prst="rect">
            <a:avLst/>
          </a:prstGeom>
          <a:noFill/>
          <a:ln/>
        </p:spPr>
        <p:txBody>
          <a:bodyPr wrap="square" lIns="0" tIns="0" rIns="0" bIns="0" rtlCol="0" anchor="ctr"/>
          <a:lstStyle/>
          <a:p>
            <a:pPr indent="0" marL="0">
              <a:lnSpc>
                <a:spcPts val="1400"/>
              </a:lnSpc>
              <a:buNone/>
            </a:pPr>
            <a:r>
              <a:rPr lang="en-US" sz="1000" dirty="0">
                <a:solidFill>
                  <a:srgbClr val="5A6B75"/>
                </a:solidFill>
                <a:latin typeface="Calibri" pitchFamily="34" charset="0"/>
                <a:ea typeface="Calibri" pitchFamily="34" charset="-122"/>
                <a:cs typeface="Calibri" pitchFamily="34" charset="-120"/>
              </a:rPr>
              <a:t>Chuẩn ISO 19005-2 — lưu trữ số dài hạn, đọc được không phụ thuộc phần mềm</a:t>
            </a:r>
            <a:endParaRPr lang="en-US" sz="1000" dirty="0"/>
          </a:p>
        </p:txBody>
      </p:sp>
      <p:sp>
        <p:nvSpPr>
          <p:cNvPr id="34" name="Text 32"/>
          <p:cNvSpPr/>
          <p:nvPr/>
        </p:nvSpPr>
        <p:spPr>
          <a:xfrm>
            <a:off x="7360920" y="2724912"/>
            <a:ext cx="4023360" cy="237744"/>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Dublin Core</a:t>
            </a:r>
            <a:endParaRPr lang="en-US" sz="1200" dirty="0"/>
          </a:p>
        </p:txBody>
      </p:sp>
      <p:sp>
        <p:nvSpPr>
          <p:cNvPr id="35" name="Text 33"/>
          <p:cNvSpPr/>
          <p:nvPr/>
        </p:nvSpPr>
        <p:spPr>
          <a:xfrm>
            <a:off x="7360920" y="2962656"/>
            <a:ext cx="4023360" cy="411480"/>
          </a:xfrm>
          <a:prstGeom prst="rect">
            <a:avLst/>
          </a:prstGeom>
          <a:noFill/>
          <a:ln/>
        </p:spPr>
        <p:txBody>
          <a:bodyPr wrap="square" lIns="0" tIns="0" rIns="0" bIns="0" rtlCol="0" anchor="ctr"/>
          <a:lstStyle/>
          <a:p>
            <a:pPr indent="0" marL="0">
              <a:lnSpc>
                <a:spcPts val="1400"/>
              </a:lnSpc>
              <a:buNone/>
            </a:pPr>
            <a:r>
              <a:rPr lang="en-US" sz="1000" dirty="0">
                <a:solidFill>
                  <a:srgbClr val="5A6B75"/>
                </a:solidFill>
                <a:latin typeface="Calibri" pitchFamily="34" charset="0"/>
                <a:ea typeface="Calibri" pitchFamily="34" charset="-122"/>
                <a:cs typeface="Calibri" pitchFamily="34" charset="-120"/>
              </a:rPr>
              <a:t>Chuẩn ISO 15836 — metadata tương thích hệ thống thư viện số</a:t>
            </a:r>
            <a:endParaRPr lang="en-US" sz="1000" dirty="0"/>
          </a:p>
        </p:txBody>
      </p:sp>
      <p:sp>
        <p:nvSpPr>
          <p:cNvPr id="36" name="Text 34"/>
          <p:cNvSpPr/>
          <p:nvPr/>
        </p:nvSpPr>
        <p:spPr>
          <a:xfrm>
            <a:off x="7360920" y="3438144"/>
            <a:ext cx="4023360" cy="237744"/>
          </a:xfrm>
          <a:prstGeom prst="rect">
            <a:avLst/>
          </a:prstGeom>
          <a:noFill/>
          <a:ln/>
        </p:spPr>
        <p:txBody>
          <a:bodyPr wrap="square" lIns="0" tIns="0" rIns="0" bIns="0" rtlCol="0" anchor="ctr"/>
          <a:lstStyle/>
          <a:p>
            <a:pPr indent="0" marL="0">
              <a:buNone/>
            </a:pPr>
            <a:r>
              <a:rPr lang="en-US" sz="1200" b="1" dirty="0">
                <a:solidFill>
                  <a:srgbClr val="065A82"/>
                </a:solidFill>
                <a:latin typeface="Calibri" pitchFamily="34" charset="0"/>
                <a:ea typeface="Calibri" pitchFamily="34" charset="-122"/>
                <a:cs typeface="Calibri" pitchFamily="34" charset="-120"/>
              </a:rPr>
              <a:t>JSON có cấu trúc</a:t>
            </a:r>
            <a:endParaRPr lang="en-US" sz="1200" dirty="0"/>
          </a:p>
        </p:txBody>
      </p:sp>
      <p:sp>
        <p:nvSpPr>
          <p:cNvPr id="37" name="Text 35"/>
          <p:cNvSpPr/>
          <p:nvPr/>
        </p:nvSpPr>
        <p:spPr>
          <a:xfrm>
            <a:off x="7360920" y="3675888"/>
            <a:ext cx="4023360" cy="411480"/>
          </a:xfrm>
          <a:prstGeom prst="rect">
            <a:avLst/>
          </a:prstGeom>
          <a:noFill/>
          <a:ln/>
        </p:spPr>
        <p:txBody>
          <a:bodyPr wrap="square" lIns="0" tIns="0" rIns="0" bIns="0" rtlCol="0" anchor="ctr"/>
          <a:lstStyle/>
          <a:p>
            <a:pPr indent="0" marL="0">
              <a:lnSpc>
                <a:spcPts val="1400"/>
              </a:lnSpc>
              <a:buNone/>
            </a:pPr>
            <a:r>
              <a:rPr lang="en-US" sz="1000" dirty="0">
                <a:solidFill>
                  <a:srgbClr val="5A6B75"/>
                </a:solidFill>
                <a:latin typeface="Calibri" pitchFamily="34" charset="0"/>
                <a:ea typeface="Calibri" pitchFamily="34" charset="-122"/>
                <a:cs typeface="Calibri" pitchFamily="34" charset="-120"/>
              </a:rPr>
              <a:t>Sẵn sàng nạp vào hệ thống đích qua REST API</a:t>
            </a:r>
            <a:endParaRPr lang="en-US" sz="1000" dirty="0"/>
          </a:p>
        </p:txBody>
      </p:sp>
      <p:sp>
        <p:nvSpPr>
          <p:cNvPr id="38" name="Shape 36"/>
          <p:cNvSpPr/>
          <p:nvPr/>
        </p:nvSpPr>
        <p:spPr>
          <a:xfrm>
            <a:off x="7086600" y="4434840"/>
            <a:ext cx="4572000" cy="1737360"/>
          </a:xfrm>
          <a:prstGeom prst="roundRect">
            <a:avLst>
              <a:gd name="adj" fmla="val 3684"/>
            </a:avLst>
          </a:prstGeom>
          <a:solidFill>
            <a:srgbClr val="FDF6E8"/>
          </a:solidFill>
          <a:ln/>
          <a:effectLst>
            <a:outerShdw sx="100000" sy="100000" kx="0" ky="0" algn="bl" rotWithShape="0" blurRad="76200" dist="19050" dir="5400000">
              <a:srgbClr val="9AAAB5">
                <a:alpha val="30000"/>
              </a:srgbClr>
            </a:outerShdw>
          </a:effectLst>
        </p:spPr>
      </p:sp>
      <p:sp>
        <p:nvSpPr>
          <p:cNvPr id="39" name="Text 37"/>
          <p:cNvSpPr/>
          <p:nvPr/>
        </p:nvSpPr>
        <p:spPr>
          <a:xfrm>
            <a:off x="7360920" y="4599432"/>
            <a:ext cx="4023360" cy="274320"/>
          </a:xfrm>
          <a:prstGeom prst="rect">
            <a:avLst/>
          </a:prstGeom>
          <a:noFill/>
          <a:ln/>
        </p:spPr>
        <p:txBody>
          <a:bodyPr wrap="square" lIns="0" tIns="0" rIns="0" bIns="0" rtlCol="0" anchor="ctr"/>
          <a:lstStyle/>
          <a:p>
            <a:pPr indent="0" marL="0">
              <a:buNone/>
            </a:pPr>
            <a:r>
              <a:rPr lang="en-US" sz="1350" b="1" dirty="0">
                <a:solidFill>
                  <a:srgbClr val="8A5D04"/>
                </a:solidFill>
                <a:latin typeface="Cambria" pitchFamily="34" charset="0"/>
                <a:ea typeface="Cambria" pitchFamily="34" charset="-122"/>
                <a:cs typeface="Cambria" pitchFamily="34" charset="-120"/>
              </a:rPr>
              <a:t>Đã tích hợp thật, không phải lời hứa</a:t>
            </a:r>
            <a:endParaRPr lang="en-US" sz="1350" dirty="0"/>
          </a:p>
        </p:txBody>
      </p:sp>
      <p:sp>
        <p:nvSpPr>
          <p:cNvPr id="40" name="Text 38"/>
          <p:cNvSpPr/>
          <p:nvPr/>
        </p:nvSpPr>
        <p:spPr>
          <a:xfrm>
            <a:off x="7360920" y="4910328"/>
            <a:ext cx="4023360" cy="1097280"/>
          </a:xfrm>
          <a:prstGeom prst="rect">
            <a:avLst/>
          </a:prstGeom>
          <a:noFill/>
          <a:ln/>
        </p:spPr>
        <p:txBody>
          <a:bodyPr wrap="square" lIns="0" tIns="0" rIns="0" bIns="0" rtlCol="0" anchor="ctr"/>
          <a:lstStyle/>
          <a:p>
            <a:pPr indent="0" marL="0">
              <a:lnSpc>
                <a:spcPts val="1500"/>
              </a:lnSpc>
              <a:buNone/>
            </a:pPr>
            <a:r>
              <a:rPr lang="en-US" sz="1050" dirty="0">
                <a:solidFill>
                  <a:srgbClr val="6B5416"/>
                </a:solidFill>
                <a:latin typeface="Calibri" pitchFamily="34" charset="0"/>
                <a:ea typeface="Calibri" pitchFamily="34" charset="-122"/>
                <a:cs typeface="Calibri" pitchFamily="34" charset="-120"/>
              </a:rPr>
              <a:t>Hệ thống đã đẩy được tài liệu và metadata lên nền tảng thư viện số DSpace 7.x qua REST API, có xử lý xác thực và quản lý phiên tự động.</a:t>
            </a:r>
            <a:endParaRPr lang="en-US" sz="1050" dirty="0"/>
          </a:p>
          <a:p>
            <a:pPr indent="0" marL="0">
              <a:lnSpc>
                <a:spcPts val="1500"/>
              </a:lnSpc>
              <a:buNone/>
            </a:pPr>
            <a:endParaRPr lang="en-US" sz="1050" dirty="0"/>
          </a:p>
          <a:p>
            <a:pPr indent="0" marL="0">
              <a:lnSpc>
                <a:spcPts val="1500"/>
              </a:lnSpc>
              <a:buNone/>
            </a:pPr>
            <a:r>
              <a:rPr lang="en-US" sz="1050" dirty="0">
                <a:solidFill>
                  <a:srgbClr val="6B5416"/>
                </a:solidFill>
                <a:latin typeface="Calibri" pitchFamily="34" charset="0"/>
                <a:ea typeface="Calibri" pitchFamily="34" charset="-122"/>
                <a:cs typeface="Calibri" pitchFamily="34" charset="-120"/>
              </a:rPr>
              <a:t>Tích hợp luôn là phần khó hơn dự kiến — và đội đã làm được một lần.</a:t>
            </a:r>
            <a:endParaRPr lang="en-US" sz="1050" dirty="0"/>
          </a:p>
        </p:txBody>
      </p:sp>
      <p:sp>
        <p:nvSpPr>
          <p:cNvPr id="41" name="Text 39"/>
          <p:cNvSpPr/>
          <p:nvPr/>
        </p:nvSpPr>
        <p:spPr>
          <a:xfrm>
            <a:off x="502920" y="5486400"/>
            <a:ext cx="6309360" cy="457200"/>
          </a:xfrm>
          <a:prstGeom prst="rect">
            <a:avLst/>
          </a:prstGeom>
          <a:noFill/>
          <a:ln/>
        </p:spPr>
        <p:txBody>
          <a:bodyPr wrap="square" lIns="0" tIns="0" rIns="0" bIns="0" rtlCol="0" anchor="ctr"/>
          <a:lstStyle/>
          <a:p>
            <a:pPr indent="0" marL="0">
              <a:buNone/>
            </a:pPr>
            <a:r>
              <a:rPr lang="en-US" sz="1100" i="1" dirty="0">
                <a:solidFill>
                  <a:srgbClr val="065A82"/>
                </a:solidFill>
                <a:latin typeface="Calibri" pitchFamily="34" charset="0"/>
                <a:ea typeface="Calibri" pitchFamily="34" charset="-122"/>
                <a:cs typeface="Calibri" pitchFamily="34" charset="-120"/>
              </a:rPr>
              <a:t>Toàn bộ nền tảng là phần mềm nguồn mở — không phát sinh phí bản quyền, chạy trên máy chủ thông thường</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3b</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Kiến trúc hai chế độ: giải bài toán pháp lý</a:t>
            </a:r>
            <a:endParaRPr lang="en-US" sz="3000" dirty="0"/>
          </a:p>
        </p:txBody>
      </p:sp>
      <p:sp>
        <p:nvSpPr>
          <p:cNvPr id="4" name="Text 2"/>
          <p:cNvSpPr/>
          <p:nvPr/>
        </p:nvSpPr>
        <p:spPr>
          <a:xfrm>
            <a:off x="1143000" y="859536"/>
            <a:ext cx="10515600" cy="310896"/>
          </a:xfrm>
          <a:prstGeom prst="rect">
            <a:avLst/>
          </a:prstGeom>
          <a:noFill/>
          <a:ln/>
        </p:spPr>
        <p:txBody>
          <a:bodyPr wrap="square" lIns="0" tIns="0" rIns="0" bIns="0" rtlCol="0" anchor="ctr"/>
          <a:lstStyle/>
          <a:p>
            <a:pPr algn="l" indent="0" marL="0">
              <a:buNone/>
            </a:pPr>
            <a:r>
              <a:rPr lang="en-US" sz="1350" i="1" dirty="0">
                <a:solidFill>
                  <a:srgbClr val="5A6B75"/>
                </a:solidFill>
                <a:latin typeface="Calibri" pitchFamily="34" charset="0"/>
                <a:ea typeface="Calibri" pitchFamily="34" charset="-122"/>
                <a:cs typeface="Calibri" pitchFamily="34" charset="-120"/>
              </a:rPr>
              <a:t>Cùng một lõi xử lý — dữ liệu nhạy cảm không bao giờ rời khỏi đơn vị</a:t>
            </a:r>
            <a:endParaRPr lang="en-US" sz="1350" dirty="0"/>
          </a:p>
        </p:txBody>
      </p:sp>
      <p:sp>
        <p:nvSpPr>
          <p:cNvPr id="5" name="Shape 3"/>
          <p:cNvSpPr/>
          <p:nvPr/>
        </p:nvSpPr>
        <p:spPr>
          <a:xfrm>
            <a:off x="502920" y="1572768"/>
            <a:ext cx="5394960" cy="2514600"/>
          </a:xfrm>
          <a:prstGeom prst="roundRect">
            <a:avLst>
              <a:gd name="adj" fmla="val 2545"/>
            </a:avLst>
          </a:prstGeom>
          <a:solidFill>
            <a:srgbClr val="F5F9FB"/>
          </a:solidFill>
          <a:ln/>
          <a:effectLst>
            <a:outerShdw sx="100000" sy="100000" kx="0" ky="0" algn="bl" rotWithShape="0" blurRad="76200" dist="19050" dir="5400000">
              <a:srgbClr val="9AAAB5">
                <a:alpha val="30000"/>
              </a:srgbClr>
            </a:outerShdw>
          </a:effectLst>
        </p:spPr>
      </p:sp>
      <p:sp>
        <p:nvSpPr>
          <p:cNvPr id="6" name="Shape 4"/>
          <p:cNvSpPr/>
          <p:nvPr/>
        </p:nvSpPr>
        <p:spPr>
          <a:xfrm>
            <a:off x="731520" y="1755648"/>
            <a:ext cx="2377440" cy="365760"/>
          </a:xfrm>
          <a:prstGeom prst="roundRect">
            <a:avLst>
              <a:gd name="adj" fmla="val 50000"/>
            </a:avLst>
          </a:prstGeom>
          <a:solidFill>
            <a:srgbClr val="1C7293"/>
          </a:solidFill>
          <a:ln/>
        </p:spPr>
      </p:sp>
      <p:sp>
        <p:nvSpPr>
          <p:cNvPr id="7" name="Text 5"/>
          <p:cNvSpPr/>
          <p:nvPr/>
        </p:nvSpPr>
        <p:spPr>
          <a:xfrm>
            <a:off x="731520" y="1755648"/>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CHẾ ĐỘ ĐÁM MÂY</a:t>
            </a:r>
            <a:endParaRPr lang="en-US" sz="1100" dirty="0"/>
          </a:p>
        </p:txBody>
      </p:sp>
      <p:sp>
        <p:nvSpPr>
          <p:cNvPr id="8" name="Shape 6"/>
          <p:cNvSpPr/>
          <p:nvPr/>
        </p:nvSpPr>
        <p:spPr>
          <a:xfrm>
            <a:off x="3291840" y="1773936"/>
            <a:ext cx="2377440" cy="329184"/>
          </a:xfrm>
          <a:prstGeom prst="roundRect">
            <a:avLst>
              <a:gd name="adj" fmla="val 50000"/>
            </a:avLst>
          </a:prstGeom>
          <a:solidFill>
            <a:srgbClr val="1F6B3B"/>
          </a:solidFill>
          <a:ln/>
        </p:spPr>
      </p:sp>
      <p:sp>
        <p:nvSpPr>
          <p:cNvPr id="9" name="Text 7"/>
          <p:cNvSpPr/>
          <p:nvPr/>
        </p:nvSpPr>
        <p:spPr>
          <a:xfrm>
            <a:off x="3291840" y="1773936"/>
            <a:ext cx="2377440" cy="32918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ĐANG VẬN HÀNH</a:t>
            </a:r>
            <a:endParaRPr lang="en-US" sz="850" dirty="0"/>
          </a:p>
        </p:txBody>
      </p:sp>
      <p:sp>
        <p:nvSpPr>
          <p:cNvPr id="10" name="Text 8"/>
          <p:cNvSpPr/>
          <p:nvPr/>
        </p:nvSpPr>
        <p:spPr>
          <a:xfrm>
            <a:off x="731520" y="2212848"/>
            <a:ext cx="4937760" cy="292608"/>
          </a:xfrm>
          <a:prstGeom prst="rect">
            <a:avLst/>
          </a:prstGeom>
          <a:noFill/>
          <a:ln/>
        </p:spPr>
        <p:txBody>
          <a:bodyPr wrap="square" lIns="0" tIns="0" rIns="0" bIns="0" rtlCol="0" anchor="ctr"/>
          <a:lstStyle/>
          <a:p>
            <a:pPr indent="0" marL="0">
              <a:buNone/>
            </a:pPr>
            <a:r>
              <a:rPr lang="en-US" sz="1050" i="1" dirty="0">
                <a:solidFill>
                  <a:srgbClr val="5A6B75"/>
                </a:solidFill>
                <a:latin typeface="Calibri" pitchFamily="34" charset="0"/>
                <a:ea typeface="Calibri" pitchFamily="34" charset="-122"/>
                <a:cs typeface="Calibri" pitchFamily="34" charset="-120"/>
              </a:rPr>
              <a:t>Tài liệu công khai, không nhạy cảm</a:t>
            </a:r>
            <a:endParaRPr lang="en-US" sz="1050" dirty="0"/>
          </a:p>
        </p:txBody>
      </p:sp>
      <p:sp>
        <p:nvSpPr>
          <p:cNvPr id="11" name="Text 9"/>
          <p:cNvSpPr/>
          <p:nvPr/>
        </p:nvSpPr>
        <p:spPr>
          <a:xfrm>
            <a:off x="731520" y="2578608"/>
            <a:ext cx="4937760" cy="137160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00" dirty="0">
                <a:solidFill>
                  <a:srgbClr val="3C4A52"/>
                </a:solidFill>
                <a:latin typeface="Calibri" pitchFamily="34" charset="0"/>
                <a:ea typeface="Calibri" pitchFamily="34" charset="-122"/>
                <a:cs typeface="Calibri" pitchFamily="34" charset="-120"/>
              </a:rPr>
              <a:t>Mô hình thương mại qua API</a:t>
            </a:r>
            <a:endParaRPr lang="en-US" sz="1100" dirty="0"/>
          </a:p>
          <a:p>
            <a:pPr marL="342900" indent="-342900">
              <a:lnSpc>
                <a:spcPts val="1500"/>
              </a:lnSpc>
              <a:spcAft>
                <a:spcPts val="600"/>
              </a:spcAft>
              <a:buSzPct val="100000"/>
              <a:buChar char="•"/>
            </a:pPr>
            <a:r>
              <a:rPr lang="en-US" sz="1100" dirty="0">
                <a:solidFill>
                  <a:srgbClr val="3C4A52"/>
                </a:solidFill>
                <a:latin typeface="Calibri" pitchFamily="34" charset="0"/>
                <a:ea typeface="Calibri" pitchFamily="34" charset="-122"/>
                <a:cs typeface="Calibri" pitchFamily="34" charset="-120"/>
              </a:rPr>
              <a:t>Độ chính xác cao hơn</a:t>
            </a:r>
            <a:endParaRPr lang="en-US" sz="1100" dirty="0"/>
          </a:p>
          <a:p>
            <a:pPr marL="342900" indent="-342900">
              <a:lnSpc>
                <a:spcPts val="1500"/>
              </a:lnSpc>
              <a:spcAft>
                <a:spcPts val="600"/>
              </a:spcAft>
              <a:buSzPct val="100000"/>
              <a:buChar char="•"/>
            </a:pPr>
            <a:r>
              <a:rPr lang="en-US" sz="1100" dirty="0">
                <a:solidFill>
                  <a:srgbClr val="3C4A52"/>
                </a:solidFill>
                <a:latin typeface="Calibri" pitchFamily="34" charset="0"/>
                <a:ea typeface="Calibri" pitchFamily="34" charset="-122"/>
                <a:cs typeface="Calibri" pitchFamily="34" charset="-120"/>
              </a:rPr>
              <a:t>Chi phí theo số trang xử lý</a:t>
            </a:r>
            <a:endParaRPr lang="en-US" sz="1100" dirty="0"/>
          </a:p>
          <a:p>
            <a:pPr marL="342900" indent="-342900">
              <a:lnSpc>
                <a:spcPts val="1500"/>
              </a:lnSpc>
              <a:spcAft>
                <a:spcPts val="600"/>
              </a:spcAft>
              <a:buSzPct val="100000"/>
              <a:buChar char="•"/>
            </a:pPr>
            <a:r>
              <a:rPr lang="en-US" sz="1100" dirty="0">
                <a:solidFill>
                  <a:srgbClr val="3C4A52"/>
                </a:solidFill>
                <a:latin typeface="Calibri" pitchFamily="34" charset="0"/>
                <a:ea typeface="Calibri" pitchFamily="34" charset="-122"/>
                <a:cs typeface="Calibri" pitchFamily="34" charset="-120"/>
              </a:rPr>
              <a:t>Cần kết nối Internet</a:t>
            </a:r>
            <a:endParaRPr lang="en-US" sz="1100" dirty="0"/>
          </a:p>
        </p:txBody>
      </p:sp>
      <p:sp>
        <p:nvSpPr>
          <p:cNvPr id="12" name="Shape 10"/>
          <p:cNvSpPr/>
          <p:nvPr/>
        </p:nvSpPr>
        <p:spPr>
          <a:xfrm>
            <a:off x="6263640" y="1572768"/>
            <a:ext cx="5394960" cy="2514600"/>
          </a:xfrm>
          <a:prstGeom prst="roundRect">
            <a:avLst>
              <a:gd name="adj" fmla="val 2545"/>
            </a:avLst>
          </a:prstGeom>
          <a:solidFill>
            <a:srgbClr val="EAF2F7"/>
          </a:solidFill>
          <a:ln/>
          <a:effectLst>
            <a:outerShdw sx="100000" sy="100000" kx="0" ky="0" algn="bl" rotWithShape="0" blurRad="76200" dist="19050" dir="5400000">
              <a:srgbClr val="9AAAB5">
                <a:alpha val="30000"/>
              </a:srgbClr>
            </a:outerShdw>
          </a:effectLst>
        </p:spPr>
      </p:sp>
      <p:sp>
        <p:nvSpPr>
          <p:cNvPr id="13" name="Shape 11"/>
          <p:cNvSpPr/>
          <p:nvPr/>
        </p:nvSpPr>
        <p:spPr>
          <a:xfrm>
            <a:off x="6492240" y="1755648"/>
            <a:ext cx="2377440" cy="365760"/>
          </a:xfrm>
          <a:prstGeom prst="roundRect">
            <a:avLst>
              <a:gd name="adj" fmla="val 50000"/>
            </a:avLst>
          </a:prstGeom>
          <a:solidFill>
            <a:srgbClr val="065A82"/>
          </a:solidFill>
          <a:ln/>
        </p:spPr>
      </p:sp>
      <p:sp>
        <p:nvSpPr>
          <p:cNvPr id="14" name="Text 12"/>
          <p:cNvSpPr/>
          <p:nvPr/>
        </p:nvSpPr>
        <p:spPr>
          <a:xfrm>
            <a:off x="6492240" y="1755648"/>
            <a:ext cx="237744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CHẾ ĐỘ TẠI CHỖ</a:t>
            </a:r>
            <a:endParaRPr lang="en-US" sz="1100" dirty="0"/>
          </a:p>
        </p:txBody>
      </p:sp>
      <p:sp>
        <p:nvSpPr>
          <p:cNvPr id="15" name="Shape 13"/>
          <p:cNvSpPr/>
          <p:nvPr/>
        </p:nvSpPr>
        <p:spPr>
          <a:xfrm>
            <a:off x="9052560" y="1773936"/>
            <a:ext cx="2377440" cy="329184"/>
          </a:xfrm>
          <a:prstGeom prst="roundRect">
            <a:avLst>
              <a:gd name="adj" fmla="val 50000"/>
            </a:avLst>
          </a:prstGeom>
          <a:solidFill>
            <a:srgbClr val="B0453A"/>
          </a:solidFill>
          <a:ln/>
        </p:spPr>
      </p:sp>
      <p:sp>
        <p:nvSpPr>
          <p:cNvPr id="16" name="Text 14"/>
          <p:cNvSpPr/>
          <p:nvPr/>
        </p:nvSpPr>
        <p:spPr>
          <a:xfrm>
            <a:off x="9052560" y="1773936"/>
            <a:ext cx="2377440" cy="329184"/>
          </a:xfrm>
          <a:prstGeom prst="rect">
            <a:avLst/>
          </a:prstGeom>
          <a:noFill/>
          <a:ln/>
        </p:spPr>
        <p:txBody>
          <a:bodyPr wrap="square" lIns="0" tIns="0" rIns="0" bIns="0" rtlCol="0" anchor="ctr"/>
          <a:lstStyle/>
          <a:p>
            <a:pPr algn="ctr" indent="0" marL="0">
              <a:buNone/>
            </a:pPr>
            <a:r>
              <a:rPr lang="en-US" sz="850" b="1" dirty="0">
                <a:solidFill>
                  <a:srgbClr val="FFFFFF"/>
                </a:solidFill>
                <a:latin typeface="Calibri" pitchFamily="34" charset="0"/>
                <a:ea typeface="Calibri" pitchFamily="34" charset="-122"/>
                <a:cs typeface="Calibri" pitchFamily="34" charset="-120"/>
              </a:rPr>
              <a:t>ĐỀ XUẤT — CHƯA KIỂM CHỨNG</a:t>
            </a:r>
            <a:endParaRPr lang="en-US" sz="850" dirty="0"/>
          </a:p>
        </p:txBody>
      </p:sp>
      <p:sp>
        <p:nvSpPr>
          <p:cNvPr id="17" name="Text 15"/>
          <p:cNvSpPr/>
          <p:nvPr/>
        </p:nvSpPr>
        <p:spPr>
          <a:xfrm>
            <a:off x="6492240" y="2212848"/>
            <a:ext cx="4937760" cy="292608"/>
          </a:xfrm>
          <a:prstGeom prst="rect">
            <a:avLst/>
          </a:prstGeom>
          <a:noFill/>
          <a:ln/>
        </p:spPr>
        <p:txBody>
          <a:bodyPr wrap="square" lIns="0" tIns="0" rIns="0" bIns="0" rtlCol="0" anchor="ctr"/>
          <a:lstStyle/>
          <a:p>
            <a:pPr indent="0" marL="0">
              <a:buNone/>
            </a:pPr>
            <a:r>
              <a:rPr lang="en-US" sz="1050" i="1" dirty="0">
                <a:solidFill>
                  <a:srgbClr val="5A6B75"/>
                </a:solidFill>
                <a:latin typeface="Calibri" pitchFamily="34" charset="0"/>
                <a:ea typeface="Calibri" pitchFamily="34" charset="-122"/>
                <a:cs typeface="Calibri" pitchFamily="34" charset="-120"/>
              </a:rPr>
              <a:t>Hồ sơ hành chính, dữ liệu cá nhân, văn bản có độ mật</a:t>
            </a:r>
            <a:endParaRPr lang="en-US" sz="1050" dirty="0"/>
          </a:p>
        </p:txBody>
      </p:sp>
      <p:sp>
        <p:nvSpPr>
          <p:cNvPr id="18" name="Text 16"/>
          <p:cNvSpPr/>
          <p:nvPr/>
        </p:nvSpPr>
        <p:spPr>
          <a:xfrm>
            <a:off x="6492240" y="2578608"/>
            <a:ext cx="4937760" cy="1371600"/>
          </a:xfrm>
          <a:prstGeom prst="rect">
            <a:avLst/>
          </a:prstGeom>
          <a:noFill/>
          <a:ln/>
        </p:spPr>
        <p:txBody>
          <a:bodyPr wrap="square" lIns="0" tIns="0" rIns="0" bIns="0" rtlCol="0" anchor="ctr"/>
          <a:lstStyle/>
          <a:p>
            <a:pPr marL="342900" indent="-342900">
              <a:lnSpc>
                <a:spcPts val="1500"/>
              </a:lnSpc>
              <a:spcAft>
                <a:spcPts val="600"/>
              </a:spcAft>
              <a:buSzPct val="100000"/>
              <a:buChar char="•"/>
            </a:pPr>
            <a:r>
              <a:rPr lang="en-US" sz="1100" dirty="0">
                <a:solidFill>
                  <a:srgbClr val="3C4A52"/>
                </a:solidFill>
                <a:latin typeface="Calibri" pitchFamily="34" charset="0"/>
                <a:ea typeface="Calibri" pitchFamily="34" charset="-122"/>
                <a:cs typeface="Calibri" pitchFamily="34" charset="-120"/>
              </a:rPr>
              <a:t>Mô hình mở, chạy trên máy chủ của đơn vị</a:t>
            </a:r>
            <a:endParaRPr lang="en-US" sz="1100" dirty="0"/>
          </a:p>
          <a:p>
            <a:pPr marL="342900" indent="-342900">
              <a:lnSpc>
                <a:spcPts val="1500"/>
              </a:lnSpc>
              <a:spcAft>
                <a:spcPts val="600"/>
              </a:spcAft>
              <a:buSzPct val="100000"/>
              <a:buChar char="•"/>
            </a:pPr>
            <a:r>
              <a:rPr lang="en-US" sz="1100" b="1" dirty="0">
                <a:solidFill>
                  <a:srgbClr val="3C4A52"/>
                </a:solidFill>
                <a:latin typeface="Calibri" pitchFamily="34" charset="0"/>
                <a:ea typeface="Calibri" pitchFamily="34" charset="-122"/>
                <a:cs typeface="Calibri" pitchFamily="34" charset="-120"/>
              </a:rPr>
              <a:t>Dữ liệu KHÔNG rời khỏi mạng nội bộ</a:t>
            </a:r>
            <a:endParaRPr lang="en-US" sz="1100" dirty="0"/>
          </a:p>
          <a:p>
            <a:pPr marL="342900" indent="-342900">
              <a:lnSpc>
                <a:spcPts val="1500"/>
              </a:lnSpc>
              <a:spcAft>
                <a:spcPts val="600"/>
              </a:spcAft>
              <a:buSzPct val="100000"/>
              <a:buChar char="•"/>
            </a:pPr>
            <a:r>
              <a:rPr lang="en-US" sz="1100" dirty="0">
                <a:solidFill>
                  <a:srgbClr val="3C4A52"/>
                </a:solidFill>
                <a:latin typeface="Calibri" pitchFamily="34" charset="0"/>
                <a:ea typeface="Calibri" pitchFamily="34" charset="-122"/>
                <a:cs typeface="Calibri" pitchFamily="34" charset="-120"/>
              </a:rPr>
              <a:t>Chi phí biến đổi bằng không</a:t>
            </a:r>
            <a:endParaRPr lang="en-US" sz="1100" dirty="0"/>
          </a:p>
          <a:p>
            <a:pPr marL="342900" indent="-342900">
              <a:lnSpc>
                <a:spcPts val="1500"/>
              </a:lnSpc>
              <a:spcAft>
                <a:spcPts val="600"/>
              </a:spcAft>
              <a:buSzPct val="100000"/>
              <a:buChar char="•"/>
            </a:pPr>
            <a:r>
              <a:rPr lang="en-US" sz="1100" dirty="0">
                <a:solidFill>
                  <a:srgbClr val="3C4A52"/>
                </a:solidFill>
                <a:latin typeface="Calibri" pitchFamily="34" charset="0"/>
                <a:ea typeface="Calibri" pitchFamily="34" charset="-122"/>
                <a:cs typeface="Calibri" pitchFamily="34" charset="-120"/>
              </a:rPr>
              <a:t>Chạy được cả khi ngắt Internet</a:t>
            </a:r>
            <a:endParaRPr lang="en-US" sz="1100" dirty="0"/>
          </a:p>
        </p:txBody>
      </p:sp>
      <p:sp>
        <p:nvSpPr>
          <p:cNvPr id="19" name="Text 17"/>
          <p:cNvSpPr/>
          <p:nvPr/>
        </p:nvSpPr>
        <p:spPr>
          <a:xfrm>
            <a:off x="502920" y="4224528"/>
            <a:ext cx="11155680" cy="274320"/>
          </a:xfrm>
          <a:prstGeom prst="rect">
            <a:avLst/>
          </a:prstGeom>
          <a:noFill/>
          <a:ln/>
        </p:spPr>
        <p:txBody>
          <a:bodyPr wrap="square" lIns="0" tIns="0" rIns="0" bIns="0" rtlCol="0" anchor="ctr"/>
          <a:lstStyle/>
          <a:p>
            <a:pPr algn="ctr" indent="0" marL="0">
              <a:buNone/>
            </a:pPr>
            <a:r>
              <a:rPr lang="en-US" sz="1200" b="1" dirty="0">
                <a:solidFill>
                  <a:srgbClr val="065A82"/>
                </a:solidFill>
                <a:latin typeface="Calibri" pitchFamily="34" charset="0"/>
                <a:ea typeface="Calibri" pitchFamily="34" charset="-122"/>
                <a:cs typeface="Calibri" pitchFamily="34" charset="-120"/>
              </a:rPr>
              <a:t>Định tuyến tự động theo độ nhạy cảm — mặc định an toàn là chế độ tại chỗ</a:t>
            </a:r>
            <a:endParaRPr lang="en-US" sz="1200" dirty="0"/>
          </a:p>
        </p:txBody>
      </p:sp>
      <p:sp>
        <p:nvSpPr>
          <p:cNvPr id="20" name="Shape 18"/>
          <p:cNvSpPr/>
          <p:nvPr/>
        </p:nvSpPr>
        <p:spPr>
          <a:xfrm>
            <a:off x="502920" y="4617720"/>
            <a:ext cx="11155680" cy="1051560"/>
          </a:xfrm>
          <a:prstGeom prst="roundRect">
            <a:avLst>
              <a:gd name="adj" fmla="val 6087"/>
            </a:avLst>
          </a:prstGeom>
          <a:solidFill>
            <a:srgbClr val="FDF6E8"/>
          </a:solidFill>
          <a:ln/>
          <a:effectLst>
            <a:outerShdw sx="100000" sy="100000" kx="0" ky="0" algn="bl" rotWithShape="0" blurRad="76200" dist="19050" dir="5400000">
              <a:srgbClr val="9AAAB5">
                <a:alpha val="30000"/>
              </a:srgbClr>
            </a:outerShdw>
          </a:effectLst>
        </p:spPr>
      </p:sp>
      <p:sp>
        <p:nvSpPr>
          <p:cNvPr id="21" name="Text 19"/>
          <p:cNvSpPr/>
          <p:nvPr/>
        </p:nvSpPr>
        <p:spPr>
          <a:xfrm>
            <a:off x="777240" y="4754880"/>
            <a:ext cx="10607040" cy="256032"/>
          </a:xfrm>
          <a:prstGeom prst="rect">
            <a:avLst/>
          </a:prstGeom>
          <a:noFill/>
          <a:ln/>
        </p:spPr>
        <p:txBody>
          <a:bodyPr wrap="square" lIns="0" tIns="0" rIns="0" bIns="0" rtlCol="0" anchor="ctr"/>
          <a:lstStyle/>
          <a:p>
            <a:pPr indent="0" marL="0">
              <a:buNone/>
            </a:pPr>
            <a:r>
              <a:rPr lang="en-US" sz="1300" b="1" dirty="0">
                <a:solidFill>
                  <a:srgbClr val="8A5D04"/>
                </a:solidFill>
                <a:latin typeface="Cambria" pitchFamily="34" charset="0"/>
                <a:ea typeface="Cambria" pitchFamily="34" charset="-122"/>
                <a:cs typeface="Cambria" pitchFamily="34" charset="-120"/>
              </a:rPr>
              <a:t>Vì sao đây là quyết định quan trọng nhất</a:t>
            </a:r>
            <a:endParaRPr lang="en-US" sz="1300" dirty="0"/>
          </a:p>
        </p:txBody>
      </p:sp>
      <p:sp>
        <p:nvSpPr>
          <p:cNvPr id="22" name="Text 20"/>
          <p:cNvSpPr/>
          <p:nvPr/>
        </p:nvSpPr>
        <p:spPr>
          <a:xfrm>
            <a:off x="777240" y="5029200"/>
            <a:ext cx="10607040" cy="548640"/>
          </a:xfrm>
          <a:prstGeom prst="rect">
            <a:avLst/>
          </a:prstGeom>
          <a:noFill/>
          <a:ln/>
        </p:spPr>
        <p:txBody>
          <a:bodyPr wrap="square" lIns="0" tIns="0" rIns="0" bIns="0" rtlCol="0" anchor="ctr"/>
          <a:lstStyle/>
          <a:p>
            <a:pPr indent="0" marL="0">
              <a:lnSpc>
                <a:spcPts val="1500"/>
              </a:lnSpc>
              <a:buNone/>
            </a:pPr>
            <a:r>
              <a:rPr lang="en-US" sz="1050" dirty="0">
                <a:solidFill>
                  <a:srgbClr val="6B5416"/>
                </a:solidFill>
                <a:latin typeface="Calibri" pitchFamily="34" charset="0"/>
                <a:ea typeface="Calibri" pitchFamily="34" charset="-122"/>
                <a:cs typeface="Calibri" pitchFamily="34" charset="-120"/>
              </a:rPr>
              <a:t>Rào cản pháp lý về dữ liệu là rào cản duy nhất không vượt qua được bằng cách trình bày hay hơn. Chế độ tại chỗ không phải tính năng bổ sung — nó là điều kiện tiên quyết để sản phẩm được nói tới trong bối cảnh quản trị đô thị. Đồng thời gỡ luôn phụ thuộc nhà cung cấp.</a:t>
            </a:r>
            <a:endParaRPr lang="en-US" sz="1050" dirty="0"/>
          </a:p>
        </p:txBody>
      </p:sp>
      <p:sp>
        <p:nvSpPr>
          <p:cNvPr id="23" name="Text 21"/>
          <p:cNvSpPr/>
          <p:nvPr/>
        </p:nvSpPr>
        <p:spPr>
          <a:xfrm>
            <a:off x="502920" y="5852160"/>
            <a:ext cx="11155680" cy="274320"/>
          </a:xfrm>
          <a:prstGeom prst="rect">
            <a:avLst/>
          </a:prstGeom>
          <a:noFill/>
          <a:ln/>
        </p:spPr>
        <p:txBody>
          <a:bodyPr wrap="square" lIns="0" tIns="0" rIns="0" bIns="0" rtlCol="0" anchor="ctr"/>
          <a:lstStyle/>
          <a:p>
            <a:pPr indent="0" marL="0">
              <a:buNone/>
            </a:pPr>
            <a:r>
              <a:rPr lang="en-US" sz="1000" b="1" i="1" dirty="0">
                <a:solidFill>
                  <a:srgbClr val="B0453A"/>
                </a:solidFill>
                <a:latin typeface="Calibri" pitchFamily="34" charset="0"/>
                <a:ea typeface="Calibri" pitchFamily="34" charset="-122"/>
                <a:cs typeface="Calibri" pitchFamily="34" charset="-120"/>
              </a:rPr>
              <a:t>Chế độ tại chỗ hiện là đề xuất, chưa triển khai. Bảng so sánh độ chính xác hai chế độ: [cần điền] — chỉ điền khi đã đo thật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1371600" y="3840480"/>
            <a:ext cx="5029200" cy="5029200"/>
          </a:xfrm>
          <a:prstGeom prst="ellipse">
            <a:avLst/>
          </a:prstGeom>
          <a:solidFill>
            <a:srgbClr val="065A82">
              <a:alpha val="45000"/>
            </a:srgbClr>
          </a:solidFill>
          <a:ln/>
        </p:spPr>
      </p:sp>
      <p:sp>
        <p:nvSpPr>
          <p:cNvPr id="3" name="Text 1"/>
          <p:cNvSpPr/>
          <p:nvPr/>
        </p:nvSpPr>
        <p:spPr>
          <a:xfrm>
            <a:off x="502920" y="310896"/>
            <a:ext cx="685800" cy="457200"/>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04</a:t>
            </a:r>
            <a:endParaRPr lang="en-US" sz="2600" dirty="0"/>
          </a:p>
        </p:txBody>
      </p:sp>
      <p:sp>
        <p:nvSpPr>
          <p:cNvPr id="4" name="Text 2"/>
          <p:cNvSpPr/>
          <p:nvPr/>
        </p:nvSpPr>
        <p:spPr>
          <a:xfrm>
            <a:off x="1143000" y="292608"/>
            <a:ext cx="10515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Trạng thái: đã vận hành thực tế</a:t>
            </a:r>
            <a:endParaRPr lang="en-US" sz="3000" dirty="0"/>
          </a:p>
        </p:txBody>
      </p:sp>
      <p:sp>
        <p:nvSpPr>
          <p:cNvPr id="5" name="Text 3"/>
          <p:cNvSpPr/>
          <p:nvPr/>
        </p:nvSpPr>
        <p:spPr>
          <a:xfrm>
            <a:off x="1143000" y="859536"/>
            <a:ext cx="10515600" cy="310896"/>
          </a:xfrm>
          <a:prstGeom prst="rect">
            <a:avLst/>
          </a:prstGeom>
          <a:noFill/>
          <a:ln/>
        </p:spPr>
        <p:txBody>
          <a:bodyPr wrap="square" lIns="0" tIns="0" rIns="0" bIns="0" rtlCol="0" anchor="ctr"/>
          <a:lstStyle/>
          <a:p>
            <a:pPr indent="0" marL="0">
              <a:buNone/>
            </a:pPr>
            <a:r>
              <a:rPr lang="en-US" sz="1350" i="1" dirty="0">
                <a:solidFill>
                  <a:srgbClr val="8FB6C9"/>
                </a:solidFill>
                <a:latin typeface="Calibri" pitchFamily="34" charset="0"/>
                <a:ea typeface="Calibri" pitchFamily="34" charset="-122"/>
                <a:cs typeface="Calibri" pitchFamily="34" charset="-120"/>
              </a:rPr>
              <a:t>Đây là điểm khác biệt lớn nhất so với phần lớn hồ sơ dự thi</a:t>
            </a:r>
            <a:endParaRPr lang="en-US" sz="1350" dirty="0"/>
          </a:p>
        </p:txBody>
      </p:sp>
      <p:sp>
        <p:nvSpPr>
          <p:cNvPr id="6" name="Shape 4"/>
          <p:cNvSpPr/>
          <p:nvPr/>
        </p:nvSpPr>
        <p:spPr>
          <a:xfrm>
            <a:off x="502920" y="1600200"/>
            <a:ext cx="2048256" cy="1051560"/>
          </a:xfrm>
          <a:prstGeom prst="roundRect">
            <a:avLst>
              <a:gd name="adj" fmla="val 6087"/>
            </a:avLst>
          </a:prstGeom>
          <a:solidFill>
            <a:srgbClr val="2E3D6E"/>
          </a:solidFill>
          <a:ln/>
        </p:spPr>
      </p:sp>
      <p:sp>
        <p:nvSpPr>
          <p:cNvPr id="7" name="Text 5"/>
          <p:cNvSpPr/>
          <p:nvPr/>
        </p:nvSpPr>
        <p:spPr>
          <a:xfrm>
            <a:off x="502920" y="1737360"/>
            <a:ext cx="2048256" cy="310896"/>
          </a:xfrm>
          <a:prstGeom prst="rect">
            <a:avLst/>
          </a:prstGeom>
          <a:noFill/>
          <a:ln/>
        </p:spPr>
        <p:txBody>
          <a:bodyPr wrap="square" lIns="0" tIns="0" rIns="0" bIns="0" rtlCol="0" anchor="ctr"/>
          <a:lstStyle/>
          <a:p>
            <a:pPr algn="ctr" indent="0" marL="0">
              <a:buNone/>
            </a:pPr>
            <a:r>
              <a:rPr lang="en-US" sz="1500" dirty="0">
                <a:solidFill>
                  <a:srgbClr val="7FA8BC"/>
                </a:solidFill>
                <a:latin typeface="Calibri" pitchFamily="34" charset="0"/>
                <a:ea typeface="Calibri" pitchFamily="34" charset="-122"/>
                <a:cs typeface="Calibri" pitchFamily="34" charset="-120"/>
              </a:rPr>
              <a:t>✓</a:t>
            </a:r>
            <a:endParaRPr lang="en-US" sz="1500" dirty="0"/>
          </a:p>
        </p:txBody>
      </p:sp>
      <p:sp>
        <p:nvSpPr>
          <p:cNvPr id="8" name="Text 6"/>
          <p:cNvSpPr/>
          <p:nvPr/>
        </p:nvSpPr>
        <p:spPr>
          <a:xfrm>
            <a:off x="502920" y="2084832"/>
            <a:ext cx="2048256" cy="256032"/>
          </a:xfrm>
          <a:prstGeom prst="rect">
            <a:avLst/>
          </a:prstGeom>
          <a:noFill/>
          <a:ln/>
        </p:spPr>
        <p:txBody>
          <a:bodyPr wrap="square" lIns="0" tIns="0" rIns="0" bIns="0" rtlCol="0" anchor="ctr"/>
          <a:lstStyle/>
          <a:p>
            <a:pPr algn="ctr" indent="0" marL="0">
              <a:buNone/>
            </a:pPr>
            <a:r>
              <a:rPr lang="en-US" sz="1250" b="1" dirty="0">
                <a:solidFill>
                  <a:srgbClr val="A8C4D4"/>
                </a:solidFill>
                <a:latin typeface="Cambria" pitchFamily="34" charset="0"/>
                <a:ea typeface="Cambria" pitchFamily="34" charset="-122"/>
                <a:cs typeface="Cambria" pitchFamily="34" charset="-120"/>
              </a:rPr>
              <a:t>Ý tưởng</a:t>
            </a:r>
            <a:endParaRPr lang="en-US" sz="1250" dirty="0"/>
          </a:p>
        </p:txBody>
      </p:sp>
      <p:sp>
        <p:nvSpPr>
          <p:cNvPr id="9" name="Text 7"/>
          <p:cNvSpPr/>
          <p:nvPr/>
        </p:nvSpPr>
        <p:spPr>
          <a:xfrm>
            <a:off x="502920" y="2340864"/>
            <a:ext cx="2048256" cy="219456"/>
          </a:xfrm>
          <a:prstGeom prst="rect">
            <a:avLst/>
          </a:prstGeom>
          <a:noFill/>
          <a:ln/>
        </p:spPr>
        <p:txBody>
          <a:bodyPr wrap="square" lIns="0" tIns="0" rIns="0" bIns="0" rtlCol="0" anchor="ctr"/>
          <a:lstStyle/>
          <a:p>
            <a:pPr algn="ctr" indent="0" marL="0">
              <a:buNone/>
            </a:pPr>
            <a:r>
              <a:rPr lang="en-US" sz="900" dirty="0">
                <a:solidFill>
                  <a:srgbClr val="6A7498"/>
                </a:solidFill>
                <a:latin typeface="Calibri" pitchFamily="34" charset="0"/>
                <a:ea typeface="Calibri" pitchFamily="34" charset="-122"/>
                <a:cs typeface="Calibri" pitchFamily="34" charset="-120"/>
              </a:rPr>
              <a:t>đã qua</a:t>
            </a:r>
            <a:endParaRPr lang="en-US" sz="900" dirty="0"/>
          </a:p>
        </p:txBody>
      </p:sp>
      <p:sp>
        <p:nvSpPr>
          <p:cNvPr id="10" name="Shape 8"/>
          <p:cNvSpPr/>
          <p:nvPr/>
        </p:nvSpPr>
        <p:spPr>
          <a:xfrm>
            <a:off x="2798064" y="1600200"/>
            <a:ext cx="2048256" cy="1051560"/>
          </a:xfrm>
          <a:prstGeom prst="roundRect">
            <a:avLst>
              <a:gd name="adj" fmla="val 6087"/>
            </a:avLst>
          </a:prstGeom>
          <a:solidFill>
            <a:srgbClr val="2E3D6E"/>
          </a:solidFill>
          <a:ln/>
        </p:spPr>
      </p:sp>
      <p:sp>
        <p:nvSpPr>
          <p:cNvPr id="11" name="Text 9"/>
          <p:cNvSpPr/>
          <p:nvPr/>
        </p:nvSpPr>
        <p:spPr>
          <a:xfrm>
            <a:off x="2798064" y="1737360"/>
            <a:ext cx="2048256" cy="310896"/>
          </a:xfrm>
          <a:prstGeom prst="rect">
            <a:avLst/>
          </a:prstGeom>
          <a:noFill/>
          <a:ln/>
        </p:spPr>
        <p:txBody>
          <a:bodyPr wrap="square" lIns="0" tIns="0" rIns="0" bIns="0" rtlCol="0" anchor="ctr"/>
          <a:lstStyle/>
          <a:p>
            <a:pPr algn="ctr" indent="0" marL="0">
              <a:buNone/>
            </a:pPr>
            <a:r>
              <a:rPr lang="en-US" sz="1500" dirty="0">
                <a:solidFill>
                  <a:srgbClr val="7FA8BC"/>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2798064" y="2084832"/>
            <a:ext cx="2048256" cy="256032"/>
          </a:xfrm>
          <a:prstGeom prst="rect">
            <a:avLst/>
          </a:prstGeom>
          <a:noFill/>
          <a:ln/>
        </p:spPr>
        <p:txBody>
          <a:bodyPr wrap="square" lIns="0" tIns="0" rIns="0" bIns="0" rtlCol="0" anchor="ctr"/>
          <a:lstStyle/>
          <a:p>
            <a:pPr algn="ctr" indent="0" marL="0">
              <a:buNone/>
            </a:pPr>
            <a:r>
              <a:rPr lang="en-US" sz="1250" b="1" dirty="0">
                <a:solidFill>
                  <a:srgbClr val="A8C4D4"/>
                </a:solidFill>
                <a:latin typeface="Cambria" pitchFamily="34" charset="0"/>
                <a:ea typeface="Cambria" pitchFamily="34" charset="-122"/>
                <a:cs typeface="Cambria" pitchFamily="34" charset="-120"/>
              </a:rPr>
              <a:t>Prototype</a:t>
            </a:r>
            <a:endParaRPr lang="en-US" sz="1250" dirty="0"/>
          </a:p>
        </p:txBody>
      </p:sp>
      <p:sp>
        <p:nvSpPr>
          <p:cNvPr id="13" name="Text 11"/>
          <p:cNvSpPr/>
          <p:nvPr/>
        </p:nvSpPr>
        <p:spPr>
          <a:xfrm>
            <a:off x="2798064" y="2340864"/>
            <a:ext cx="2048256" cy="219456"/>
          </a:xfrm>
          <a:prstGeom prst="rect">
            <a:avLst/>
          </a:prstGeom>
          <a:noFill/>
          <a:ln/>
        </p:spPr>
        <p:txBody>
          <a:bodyPr wrap="square" lIns="0" tIns="0" rIns="0" bIns="0" rtlCol="0" anchor="ctr"/>
          <a:lstStyle/>
          <a:p>
            <a:pPr algn="ctr" indent="0" marL="0">
              <a:buNone/>
            </a:pPr>
            <a:r>
              <a:rPr lang="en-US" sz="900" dirty="0">
                <a:solidFill>
                  <a:srgbClr val="6A7498"/>
                </a:solidFill>
                <a:latin typeface="Calibri" pitchFamily="34" charset="0"/>
                <a:ea typeface="Calibri" pitchFamily="34" charset="-122"/>
                <a:cs typeface="Calibri" pitchFamily="34" charset="-120"/>
              </a:rPr>
              <a:t>đã qua</a:t>
            </a:r>
            <a:endParaRPr lang="en-US" sz="900" dirty="0"/>
          </a:p>
        </p:txBody>
      </p:sp>
      <p:sp>
        <p:nvSpPr>
          <p:cNvPr id="14" name="Shape 12"/>
          <p:cNvSpPr/>
          <p:nvPr/>
        </p:nvSpPr>
        <p:spPr>
          <a:xfrm>
            <a:off x="5093208" y="1600200"/>
            <a:ext cx="2048256" cy="1051560"/>
          </a:xfrm>
          <a:prstGeom prst="roundRect">
            <a:avLst>
              <a:gd name="adj" fmla="val 6087"/>
            </a:avLst>
          </a:prstGeom>
          <a:solidFill>
            <a:srgbClr val="2E3D6E"/>
          </a:solidFill>
          <a:ln/>
        </p:spPr>
      </p:sp>
      <p:sp>
        <p:nvSpPr>
          <p:cNvPr id="15" name="Text 13"/>
          <p:cNvSpPr/>
          <p:nvPr/>
        </p:nvSpPr>
        <p:spPr>
          <a:xfrm>
            <a:off x="5093208" y="1737360"/>
            <a:ext cx="2048256" cy="310896"/>
          </a:xfrm>
          <a:prstGeom prst="rect">
            <a:avLst/>
          </a:prstGeom>
          <a:noFill/>
          <a:ln/>
        </p:spPr>
        <p:txBody>
          <a:bodyPr wrap="square" lIns="0" tIns="0" rIns="0" bIns="0" rtlCol="0" anchor="ctr"/>
          <a:lstStyle/>
          <a:p>
            <a:pPr algn="ctr" indent="0" marL="0">
              <a:buNone/>
            </a:pPr>
            <a:r>
              <a:rPr lang="en-US" sz="1500" dirty="0">
                <a:solidFill>
                  <a:srgbClr val="7FA8BC"/>
                </a:solidFill>
                <a:latin typeface="Calibri" pitchFamily="34" charset="0"/>
                <a:ea typeface="Calibri" pitchFamily="34" charset="-122"/>
                <a:cs typeface="Calibri" pitchFamily="34" charset="-120"/>
              </a:rPr>
              <a:t>✓</a:t>
            </a:r>
            <a:endParaRPr lang="en-US" sz="1500" dirty="0"/>
          </a:p>
        </p:txBody>
      </p:sp>
      <p:sp>
        <p:nvSpPr>
          <p:cNvPr id="16" name="Text 14"/>
          <p:cNvSpPr/>
          <p:nvPr/>
        </p:nvSpPr>
        <p:spPr>
          <a:xfrm>
            <a:off x="5093208" y="2084832"/>
            <a:ext cx="2048256" cy="256032"/>
          </a:xfrm>
          <a:prstGeom prst="rect">
            <a:avLst/>
          </a:prstGeom>
          <a:noFill/>
          <a:ln/>
        </p:spPr>
        <p:txBody>
          <a:bodyPr wrap="square" lIns="0" tIns="0" rIns="0" bIns="0" rtlCol="0" anchor="ctr"/>
          <a:lstStyle/>
          <a:p>
            <a:pPr algn="ctr" indent="0" marL="0">
              <a:buNone/>
            </a:pPr>
            <a:r>
              <a:rPr lang="en-US" sz="1250" b="1" dirty="0">
                <a:solidFill>
                  <a:srgbClr val="A8C4D4"/>
                </a:solidFill>
                <a:latin typeface="Cambria" pitchFamily="34" charset="0"/>
                <a:ea typeface="Cambria" pitchFamily="34" charset="-122"/>
                <a:cs typeface="Cambria" pitchFamily="34" charset="-120"/>
              </a:rPr>
              <a:t>Lab-test</a:t>
            </a:r>
            <a:endParaRPr lang="en-US" sz="1250" dirty="0"/>
          </a:p>
        </p:txBody>
      </p:sp>
      <p:sp>
        <p:nvSpPr>
          <p:cNvPr id="17" name="Text 15"/>
          <p:cNvSpPr/>
          <p:nvPr/>
        </p:nvSpPr>
        <p:spPr>
          <a:xfrm>
            <a:off x="5093208" y="2340864"/>
            <a:ext cx="2048256" cy="219456"/>
          </a:xfrm>
          <a:prstGeom prst="rect">
            <a:avLst/>
          </a:prstGeom>
          <a:noFill/>
          <a:ln/>
        </p:spPr>
        <p:txBody>
          <a:bodyPr wrap="square" lIns="0" tIns="0" rIns="0" bIns="0" rtlCol="0" anchor="ctr"/>
          <a:lstStyle/>
          <a:p>
            <a:pPr algn="ctr" indent="0" marL="0">
              <a:buNone/>
            </a:pPr>
            <a:r>
              <a:rPr lang="en-US" sz="900" dirty="0">
                <a:solidFill>
                  <a:srgbClr val="6A7498"/>
                </a:solidFill>
                <a:latin typeface="Calibri" pitchFamily="34" charset="0"/>
                <a:ea typeface="Calibri" pitchFamily="34" charset="-122"/>
                <a:cs typeface="Calibri" pitchFamily="34" charset="-120"/>
              </a:rPr>
              <a:t>đã qua</a:t>
            </a:r>
            <a:endParaRPr lang="en-US" sz="900" dirty="0"/>
          </a:p>
        </p:txBody>
      </p:sp>
      <p:sp>
        <p:nvSpPr>
          <p:cNvPr id="18" name="Shape 16"/>
          <p:cNvSpPr/>
          <p:nvPr/>
        </p:nvSpPr>
        <p:spPr>
          <a:xfrm>
            <a:off x="7388352" y="1600200"/>
            <a:ext cx="2048256" cy="1051560"/>
          </a:xfrm>
          <a:prstGeom prst="roundRect">
            <a:avLst>
              <a:gd name="adj" fmla="val 6087"/>
            </a:avLst>
          </a:prstGeom>
          <a:solidFill>
            <a:srgbClr val="1C7293"/>
          </a:solidFill>
          <a:ln/>
        </p:spPr>
      </p:sp>
      <p:sp>
        <p:nvSpPr>
          <p:cNvPr id="19" name="Text 17"/>
          <p:cNvSpPr/>
          <p:nvPr/>
        </p:nvSpPr>
        <p:spPr>
          <a:xfrm>
            <a:off x="7388352" y="1737360"/>
            <a:ext cx="2048256" cy="310896"/>
          </a:xfrm>
          <a:prstGeom prst="rect">
            <a:avLst/>
          </a:prstGeom>
          <a:noFill/>
          <a:ln/>
        </p:spPr>
        <p:txBody>
          <a:bodyPr wrap="square" lIns="0" tIns="0" rIns="0" bIns="0"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a:t>
            </a:r>
            <a:endParaRPr lang="en-US" sz="1500" dirty="0"/>
          </a:p>
        </p:txBody>
      </p:sp>
      <p:sp>
        <p:nvSpPr>
          <p:cNvPr id="20" name="Text 18"/>
          <p:cNvSpPr/>
          <p:nvPr/>
        </p:nvSpPr>
        <p:spPr>
          <a:xfrm>
            <a:off x="7388352" y="2084832"/>
            <a:ext cx="2048256" cy="256032"/>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Pilot</a:t>
            </a:r>
            <a:endParaRPr lang="en-US" sz="1250" dirty="0"/>
          </a:p>
        </p:txBody>
      </p:sp>
      <p:sp>
        <p:nvSpPr>
          <p:cNvPr id="21" name="Text 19"/>
          <p:cNvSpPr/>
          <p:nvPr/>
        </p:nvSpPr>
        <p:spPr>
          <a:xfrm>
            <a:off x="7388352" y="2340864"/>
            <a:ext cx="2048256" cy="219456"/>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HIỆN TẠI</a:t>
            </a:r>
            <a:endParaRPr lang="en-US" sz="900" dirty="0"/>
          </a:p>
        </p:txBody>
      </p:sp>
      <p:sp>
        <p:nvSpPr>
          <p:cNvPr id="22" name="Shape 20"/>
          <p:cNvSpPr/>
          <p:nvPr/>
        </p:nvSpPr>
        <p:spPr>
          <a:xfrm>
            <a:off x="9683496" y="1600200"/>
            <a:ext cx="2048256" cy="1051560"/>
          </a:xfrm>
          <a:prstGeom prst="roundRect">
            <a:avLst>
              <a:gd name="adj" fmla="val 6087"/>
            </a:avLst>
          </a:prstGeom>
          <a:solidFill>
            <a:srgbClr val="252C52"/>
          </a:solidFill>
          <a:ln/>
        </p:spPr>
      </p:sp>
      <p:sp>
        <p:nvSpPr>
          <p:cNvPr id="23" name="Text 21"/>
          <p:cNvSpPr/>
          <p:nvPr/>
        </p:nvSpPr>
        <p:spPr>
          <a:xfrm>
            <a:off x="9683496" y="1737360"/>
            <a:ext cx="2048256" cy="310896"/>
          </a:xfrm>
          <a:prstGeom prst="rect">
            <a:avLst/>
          </a:prstGeom>
          <a:noFill/>
          <a:ln/>
        </p:spPr>
        <p:txBody>
          <a:bodyPr wrap="square" lIns="0" tIns="0" rIns="0" bIns="0" rtlCol="0" anchor="ctr"/>
          <a:lstStyle/>
          <a:p>
            <a:pPr algn="ctr" indent="0" marL="0">
              <a:buNone/>
            </a:pPr>
            <a:r>
              <a:rPr lang="en-US" sz="1500" dirty="0">
                <a:solidFill>
                  <a:srgbClr val="4A5478"/>
                </a:solidFill>
                <a:latin typeface="Calibri" pitchFamily="34" charset="0"/>
                <a:ea typeface="Calibri" pitchFamily="34" charset="-122"/>
                <a:cs typeface="Calibri" pitchFamily="34" charset="-120"/>
              </a:rPr>
              <a:t>○</a:t>
            </a:r>
            <a:endParaRPr lang="en-US" sz="1500" dirty="0"/>
          </a:p>
        </p:txBody>
      </p:sp>
      <p:sp>
        <p:nvSpPr>
          <p:cNvPr id="24" name="Text 22"/>
          <p:cNvSpPr/>
          <p:nvPr/>
        </p:nvSpPr>
        <p:spPr>
          <a:xfrm>
            <a:off x="9683496" y="2084832"/>
            <a:ext cx="2048256" cy="256032"/>
          </a:xfrm>
          <a:prstGeom prst="rect">
            <a:avLst/>
          </a:prstGeom>
          <a:noFill/>
          <a:ln/>
        </p:spPr>
        <p:txBody>
          <a:bodyPr wrap="square" lIns="0" tIns="0" rIns="0" bIns="0" rtlCol="0" anchor="ctr"/>
          <a:lstStyle/>
          <a:p>
            <a:pPr algn="ctr" indent="0" marL="0">
              <a:buNone/>
            </a:pPr>
            <a:r>
              <a:rPr lang="en-US" sz="1250" b="1" dirty="0">
                <a:solidFill>
                  <a:srgbClr val="5A6488"/>
                </a:solidFill>
                <a:latin typeface="Cambria" pitchFamily="34" charset="0"/>
                <a:ea typeface="Cambria" pitchFamily="34" charset="-122"/>
                <a:cs typeface="Cambria" pitchFamily="34" charset="-120"/>
              </a:rPr>
              <a:t>Thương mại hóa</a:t>
            </a:r>
            <a:endParaRPr lang="en-US" sz="1250" dirty="0"/>
          </a:p>
        </p:txBody>
      </p:sp>
      <p:sp>
        <p:nvSpPr>
          <p:cNvPr id="25" name="Text 23"/>
          <p:cNvSpPr/>
          <p:nvPr/>
        </p:nvSpPr>
        <p:spPr>
          <a:xfrm>
            <a:off x="9683496" y="2340864"/>
            <a:ext cx="2048256" cy="219456"/>
          </a:xfrm>
          <a:prstGeom prst="rect">
            <a:avLst/>
          </a:prstGeom>
          <a:noFill/>
          <a:ln/>
        </p:spPr>
        <p:txBody>
          <a:bodyPr wrap="square" lIns="0" tIns="0" rIns="0" bIns="0" rtlCol="0" anchor="ctr"/>
          <a:lstStyle/>
          <a:p>
            <a:pPr algn="ctr" indent="0" marL="0">
              <a:buNone/>
            </a:pPr>
            <a:r>
              <a:rPr lang="en-US" sz="900" dirty="0">
                <a:solidFill>
                  <a:srgbClr val="6A7498"/>
                </a:solidFill>
                <a:latin typeface="Calibri" pitchFamily="34" charset="0"/>
                <a:ea typeface="Calibri" pitchFamily="34" charset="-122"/>
                <a:cs typeface="Calibri" pitchFamily="34" charset="-120"/>
              </a:rPr>
              <a:t>lộ trình</a:t>
            </a:r>
            <a:endParaRPr lang="en-US" sz="900" dirty="0"/>
          </a:p>
        </p:txBody>
      </p:sp>
      <p:sp>
        <p:nvSpPr>
          <p:cNvPr id="26" name="Text 24"/>
          <p:cNvSpPr/>
          <p:nvPr/>
        </p:nvSpPr>
        <p:spPr>
          <a:xfrm>
            <a:off x="502920" y="2926080"/>
            <a:ext cx="11155680" cy="548640"/>
          </a:xfrm>
          <a:prstGeom prst="rect">
            <a:avLst/>
          </a:prstGeom>
          <a:noFill/>
          <a:ln/>
        </p:spPr>
        <p:txBody>
          <a:bodyPr wrap="square" lIns="0" tIns="0" rIns="0" bIns="0" rtlCol="0" anchor="ctr"/>
          <a:lstStyle/>
          <a:p>
            <a:pPr indent="0" marL="0">
              <a:lnSpc>
                <a:spcPts val="2000"/>
              </a:lnSpc>
              <a:buNone/>
            </a:pPr>
            <a:r>
              <a:rPr lang="en-US" sz="1350" dirty="0">
                <a:solidFill>
                  <a:srgbClr val="CADCFC"/>
                </a:solidFill>
                <a:latin typeface="Calibri" pitchFamily="34" charset="0"/>
                <a:ea typeface="Calibri" pitchFamily="34" charset="-122"/>
                <a:cs typeface="Calibri" pitchFamily="34" charset="-120"/>
              </a:rPr>
              <a:t>Hệ thống đang được cán bộ Trung tâm Thông tin Thư viện, Trường Đại học Quản lý và Công nghệ Hải Phòng sử dụng trong công việc hằng ngày từ năm 2025 — với người dùng thật, tài liệu thật, và nhật ký vận hành lưu trữ đầy đủ.</a:t>
            </a:r>
            <a:endParaRPr lang="en-US" sz="1350" dirty="0"/>
          </a:p>
        </p:txBody>
      </p:sp>
      <p:sp>
        <p:nvSpPr>
          <p:cNvPr id="27" name="Text 25"/>
          <p:cNvSpPr/>
          <p:nvPr/>
        </p:nvSpPr>
        <p:spPr>
          <a:xfrm>
            <a:off x="502920" y="3657600"/>
            <a:ext cx="5486400" cy="2743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Số liệu thực chứng từ nhật ký hệ thống</a:t>
            </a:r>
            <a:endParaRPr lang="en-US" sz="1600" dirty="0"/>
          </a:p>
        </p:txBody>
      </p:sp>
      <p:sp>
        <p:nvSpPr>
          <p:cNvPr id="28" name="Shape 26"/>
          <p:cNvSpPr/>
          <p:nvPr/>
        </p:nvSpPr>
        <p:spPr>
          <a:xfrm>
            <a:off x="502920" y="4069080"/>
            <a:ext cx="2651760" cy="1463040"/>
          </a:xfrm>
          <a:prstGeom prst="roundRect">
            <a:avLst>
              <a:gd name="adj" fmla="val 4375"/>
            </a:avLst>
          </a:prstGeom>
          <a:solidFill>
            <a:srgbClr val="2A3260"/>
          </a:solidFill>
          <a:ln/>
        </p:spPr>
      </p:sp>
      <p:sp>
        <p:nvSpPr>
          <p:cNvPr id="29" name="Text 27"/>
          <p:cNvSpPr/>
          <p:nvPr/>
        </p:nvSpPr>
        <p:spPr>
          <a:xfrm>
            <a:off x="667512" y="4224528"/>
            <a:ext cx="2322576" cy="502920"/>
          </a:xfrm>
          <a:prstGeom prst="rect">
            <a:avLst/>
          </a:prstGeom>
          <a:noFill/>
          <a:ln/>
        </p:spPr>
        <p:txBody>
          <a:bodyPr wrap="square" lIns="0" tIns="0" rIns="0" bIns="0" rtlCol="0" anchor="ctr"/>
          <a:lstStyle/>
          <a:p>
            <a:pPr indent="0" marL="0">
              <a:buNone/>
            </a:pPr>
            <a:r>
              <a:rPr lang="en-US" sz="2200" b="1" dirty="0">
                <a:solidFill>
                  <a:srgbClr val="D98E04"/>
                </a:solidFill>
                <a:latin typeface="Cambria" pitchFamily="34" charset="0"/>
                <a:ea typeface="Cambria" pitchFamily="34" charset="-122"/>
                <a:cs typeface="Cambria" pitchFamily="34" charset="-120"/>
              </a:rPr>
              <a:t>[cần điền]</a:t>
            </a:r>
            <a:endParaRPr lang="en-US" sz="2200" dirty="0"/>
          </a:p>
        </p:txBody>
      </p:sp>
      <p:sp>
        <p:nvSpPr>
          <p:cNvPr id="30" name="Text 28"/>
          <p:cNvSpPr/>
          <p:nvPr/>
        </p:nvSpPr>
        <p:spPr>
          <a:xfrm>
            <a:off x="667512" y="4754880"/>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Tài liệu đã xử lý</a:t>
            </a:r>
            <a:endParaRPr lang="en-US" sz="1150" dirty="0"/>
          </a:p>
        </p:txBody>
      </p:sp>
      <p:sp>
        <p:nvSpPr>
          <p:cNvPr id="31" name="Text 29"/>
          <p:cNvSpPr/>
          <p:nvPr/>
        </p:nvSpPr>
        <p:spPr>
          <a:xfrm>
            <a:off x="667512" y="5029200"/>
            <a:ext cx="2322576" cy="411480"/>
          </a:xfrm>
          <a:prstGeom prst="rect">
            <a:avLst/>
          </a:prstGeom>
          <a:noFill/>
          <a:ln/>
        </p:spPr>
        <p:txBody>
          <a:bodyPr wrap="square" lIns="0" tIns="0" rIns="0" bIns="0" rtlCol="0" anchor="ctr"/>
          <a:lstStyle/>
          <a:p>
            <a:pPr indent="0" marL="0">
              <a:lnSpc>
                <a:spcPts val="1200"/>
              </a:lnSpc>
              <a:buNone/>
            </a:pPr>
            <a:r>
              <a:rPr lang="en-US" sz="900" dirty="0">
                <a:solidFill>
                  <a:srgbClr val="8FA0C4"/>
                </a:solidFill>
                <a:latin typeface="Calibri" pitchFamily="34" charset="0"/>
                <a:ea typeface="Calibri" pitchFamily="34" charset="-122"/>
                <a:cs typeface="Calibri" pitchFamily="34" charset="-120"/>
              </a:rPr>
              <a:t>tổng số tài liệu và số trang</a:t>
            </a:r>
            <a:endParaRPr lang="en-US" sz="900" dirty="0"/>
          </a:p>
        </p:txBody>
      </p:sp>
      <p:sp>
        <p:nvSpPr>
          <p:cNvPr id="32" name="Shape 30"/>
          <p:cNvSpPr/>
          <p:nvPr/>
        </p:nvSpPr>
        <p:spPr>
          <a:xfrm>
            <a:off x="3346704" y="4069080"/>
            <a:ext cx="2651760" cy="1463040"/>
          </a:xfrm>
          <a:prstGeom prst="roundRect">
            <a:avLst>
              <a:gd name="adj" fmla="val 4375"/>
            </a:avLst>
          </a:prstGeom>
          <a:solidFill>
            <a:srgbClr val="2A3260"/>
          </a:solidFill>
          <a:ln/>
        </p:spPr>
      </p:sp>
      <p:sp>
        <p:nvSpPr>
          <p:cNvPr id="33" name="Text 31"/>
          <p:cNvSpPr/>
          <p:nvPr/>
        </p:nvSpPr>
        <p:spPr>
          <a:xfrm>
            <a:off x="3511296" y="4224528"/>
            <a:ext cx="2322576" cy="502920"/>
          </a:xfrm>
          <a:prstGeom prst="rect">
            <a:avLst/>
          </a:prstGeom>
          <a:noFill/>
          <a:ln/>
        </p:spPr>
        <p:txBody>
          <a:bodyPr wrap="square" lIns="0" tIns="0" rIns="0" bIns="0" rtlCol="0" anchor="ctr"/>
          <a:lstStyle/>
          <a:p>
            <a:pPr indent="0" marL="0">
              <a:buNone/>
            </a:pPr>
            <a:r>
              <a:rPr lang="en-US" sz="2200" b="1" dirty="0">
                <a:solidFill>
                  <a:srgbClr val="D98E04"/>
                </a:solidFill>
                <a:latin typeface="Cambria" pitchFamily="34" charset="0"/>
                <a:ea typeface="Cambria" pitchFamily="34" charset="-122"/>
                <a:cs typeface="Cambria" pitchFamily="34" charset="-120"/>
              </a:rPr>
              <a:t>[cần điền]</a:t>
            </a:r>
            <a:endParaRPr lang="en-US" sz="2200" dirty="0"/>
          </a:p>
        </p:txBody>
      </p:sp>
      <p:sp>
        <p:nvSpPr>
          <p:cNvPr id="34" name="Text 32"/>
          <p:cNvSpPr/>
          <p:nvPr/>
        </p:nvSpPr>
        <p:spPr>
          <a:xfrm>
            <a:off x="3511296" y="4754880"/>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Thời gian trung bình</a:t>
            </a:r>
            <a:endParaRPr lang="en-US" sz="1150" dirty="0"/>
          </a:p>
        </p:txBody>
      </p:sp>
      <p:sp>
        <p:nvSpPr>
          <p:cNvPr id="35" name="Text 33"/>
          <p:cNvSpPr/>
          <p:nvPr/>
        </p:nvSpPr>
        <p:spPr>
          <a:xfrm>
            <a:off x="3511296" y="5029200"/>
            <a:ext cx="2322576" cy="411480"/>
          </a:xfrm>
          <a:prstGeom prst="rect">
            <a:avLst/>
          </a:prstGeom>
          <a:noFill/>
          <a:ln/>
        </p:spPr>
        <p:txBody>
          <a:bodyPr wrap="square" lIns="0" tIns="0" rIns="0" bIns="0" rtlCol="0" anchor="ctr"/>
          <a:lstStyle/>
          <a:p>
            <a:pPr indent="0" marL="0">
              <a:lnSpc>
                <a:spcPts val="1200"/>
              </a:lnSpc>
              <a:buNone/>
            </a:pPr>
            <a:r>
              <a:rPr lang="en-US" sz="900" dirty="0">
                <a:solidFill>
                  <a:srgbClr val="8FA0C4"/>
                </a:solidFill>
                <a:latin typeface="Calibri" pitchFamily="34" charset="0"/>
                <a:ea typeface="Calibri" pitchFamily="34" charset="-122"/>
                <a:cs typeface="Calibri" pitchFamily="34" charset="-120"/>
              </a:rPr>
              <a:t>giây mỗi tài liệu</a:t>
            </a:r>
            <a:endParaRPr lang="en-US" sz="900" dirty="0"/>
          </a:p>
        </p:txBody>
      </p:sp>
      <p:sp>
        <p:nvSpPr>
          <p:cNvPr id="36" name="Shape 34"/>
          <p:cNvSpPr/>
          <p:nvPr/>
        </p:nvSpPr>
        <p:spPr>
          <a:xfrm>
            <a:off x="6190488" y="4069080"/>
            <a:ext cx="2651760" cy="1463040"/>
          </a:xfrm>
          <a:prstGeom prst="roundRect">
            <a:avLst>
              <a:gd name="adj" fmla="val 4375"/>
            </a:avLst>
          </a:prstGeom>
          <a:solidFill>
            <a:srgbClr val="2A3260"/>
          </a:solidFill>
          <a:ln/>
        </p:spPr>
      </p:sp>
      <p:sp>
        <p:nvSpPr>
          <p:cNvPr id="37" name="Text 35"/>
          <p:cNvSpPr/>
          <p:nvPr/>
        </p:nvSpPr>
        <p:spPr>
          <a:xfrm>
            <a:off x="6355080" y="4224528"/>
            <a:ext cx="2322576" cy="502920"/>
          </a:xfrm>
          <a:prstGeom prst="rect">
            <a:avLst/>
          </a:prstGeom>
          <a:noFill/>
          <a:ln/>
        </p:spPr>
        <p:txBody>
          <a:bodyPr wrap="square" lIns="0" tIns="0" rIns="0" bIns="0" rtlCol="0" anchor="ctr"/>
          <a:lstStyle/>
          <a:p>
            <a:pPr indent="0" marL="0">
              <a:buNone/>
            </a:pPr>
            <a:r>
              <a:rPr lang="en-US" sz="2200" b="1" dirty="0">
                <a:solidFill>
                  <a:srgbClr val="D98E04"/>
                </a:solidFill>
                <a:latin typeface="Cambria" pitchFamily="34" charset="0"/>
                <a:ea typeface="Cambria" pitchFamily="34" charset="-122"/>
                <a:cs typeface="Cambria" pitchFamily="34" charset="-120"/>
              </a:rPr>
              <a:t>[cần điền]</a:t>
            </a:r>
            <a:endParaRPr lang="en-US" sz="2200" dirty="0"/>
          </a:p>
        </p:txBody>
      </p:sp>
      <p:sp>
        <p:nvSpPr>
          <p:cNvPr id="38" name="Text 36"/>
          <p:cNvSpPr/>
          <p:nvPr/>
        </p:nvSpPr>
        <p:spPr>
          <a:xfrm>
            <a:off x="6355080" y="4754880"/>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Độ chính xác trích xuất</a:t>
            </a:r>
            <a:endParaRPr lang="en-US" sz="1150" dirty="0"/>
          </a:p>
        </p:txBody>
      </p:sp>
      <p:sp>
        <p:nvSpPr>
          <p:cNvPr id="39" name="Text 37"/>
          <p:cNvSpPr/>
          <p:nvPr/>
        </p:nvSpPr>
        <p:spPr>
          <a:xfrm>
            <a:off x="6355080" y="5029200"/>
            <a:ext cx="2322576" cy="411480"/>
          </a:xfrm>
          <a:prstGeom prst="rect">
            <a:avLst/>
          </a:prstGeom>
          <a:noFill/>
          <a:ln/>
        </p:spPr>
        <p:txBody>
          <a:bodyPr wrap="square" lIns="0" tIns="0" rIns="0" bIns="0" rtlCol="0" anchor="ctr"/>
          <a:lstStyle/>
          <a:p>
            <a:pPr indent="0" marL="0">
              <a:lnSpc>
                <a:spcPts val="1200"/>
              </a:lnSpc>
              <a:buNone/>
            </a:pPr>
            <a:r>
              <a:rPr lang="en-US" sz="900" dirty="0">
                <a:solidFill>
                  <a:srgbClr val="8FA0C4"/>
                </a:solidFill>
                <a:latin typeface="Calibri" pitchFamily="34" charset="0"/>
                <a:ea typeface="Calibri" pitchFamily="34" charset="-122"/>
                <a:cs typeface="Calibri" pitchFamily="34" charset="-120"/>
              </a:rPr>
              <a:t>% số trường đúng, mẫu ngẫu nhiên đối chiếu thủ công</a:t>
            </a:r>
            <a:endParaRPr lang="en-US" sz="900" dirty="0"/>
          </a:p>
        </p:txBody>
      </p:sp>
      <p:sp>
        <p:nvSpPr>
          <p:cNvPr id="40" name="Shape 38"/>
          <p:cNvSpPr/>
          <p:nvPr/>
        </p:nvSpPr>
        <p:spPr>
          <a:xfrm>
            <a:off x="9034272" y="4069080"/>
            <a:ext cx="2651760" cy="1463040"/>
          </a:xfrm>
          <a:prstGeom prst="roundRect">
            <a:avLst>
              <a:gd name="adj" fmla="val 4375"/>
            </a:avLst>
          </a:prstGeom>
          <a:solidFill>
            <a:srgbClr val="2A3260"/>
          </a:solidFill>
          <a:ln/>
        </p:spPr>
      </p:sp>
      <p:sp>
        <p:nvSpPr>
          <p:cNvPr id="41" name="Text 39"/>
          <p:cNvSpPr/>
          <p:nvPr/>
        </p:nvSpPr>
        <p:spPr>
          <a:xfrm>
            <a:off x="9198864" y="4224528"/>
            <a:ext cx="2322576" cy="502920"/>
          </a:xfrm>
          <a:prstGeom prst="rect">
            <a:avLst/>
          </a:prstGeom>
          <a:noFill/>
          <a:ln/>
        </p:spPr>
        <p:txBody>
          <a:bodyPr wrap="square" lIns="0" tIns="0" rIns="0" bIns="0" rtlCol="0" anchor="ctr"/>
          <a:lstStyle/>
          <a:p>
            <a:pPr indent="0" marL="0">
              <a:buNone/>
            </a:pPr>
            <a:r>
              <a:rPr lang="en-US" sz="2200" b="1" dirty="0">
                <a:solidFill>
                  <a:srgbClr val="D98E04"/>
                </a:solidFill>
                <a:latin typeface="Cambria" pitchFamily="34" charset="0"/>
                <a:ea typeface="Cambria" pitchFamily="34" charset="-122"/>
                <a:cs typeface="Cambria" pitchFamily="34" charset="-120"/>
              </a:rPr>
              <a:t>[cần điền]</a:t>
            </a:r>
            <a:endParaRPr lang="en-US" sz="2200" dirty="0"/>
          </a:p>
        </p:txBody>
      </p:sp>
      <p:sp>
        <p:nvSpPr>
          <p:cNvPr id="42" name="Text 40"/>
          <p:cNvSpPr/>
          <p:nvPr/>
        </p:nvSpPr>
        <p:spPr>
          <a:xfrm>
            <a:off x="9198864" y="4754880"/>
            <a:ext cx="2322576" cy="256032"/>
          </a:xfrm>
          <a:prstGeom prst="rect">
            <a:avLst/>
          </a:prstGeom>
          <a:noFill/>
          <a:ln/>
        </p:spPr>
        <p:txBody>
          <a:bodyPr wrap="square" lIns="0" tIns="0" rIns="0" bIns="0"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Giờ công tiết kiệm</a:t>
            </a:r>
            <a:endParaRPr lang="en-US" sz="1150" dirty="0"/>
          </a:p>
        </p:txBody>
      </p:sp>
      <p:sp>
        <p:nvSpPr>
          <p:cNvPr id="43" name="Text 41"/>
          <p:cNvSpPr/>
          <p:nvPr/>
        </p:nvSpPr>
        <p:spPr>
          <a:xfrm>
            <a:off x="9198864" y="5029200"/>
            <a:ext cx="2322576" cy="411480"/>
          </a:xfrm>
          <a:prstGeom prst="rect">
            <a:avLst/>
          </a:prstGeom>
          <a:noFill/>
          <a:ln/>
        </p:spPr>
        <p:txBody>
          <a:bodyPr wrap="square" lIns="0" tIns="0" rIns="0" bIns="0" rtlCol="0" anchor="ctr"/>
          <a:lstStyle/>
          <a:p>
            <a:pPr indent="0" marL="0">
              <a:lnSpc>
                <a:spcPts val="1200"/>
              </a:lnSpc>
              <a:buNone/>
            </a:pPr>
            <a:r>
              <a:rPr lang="en-US" sz="900" dirty="0">
                <a:solidFill>
                  <a:srgbClr val="8FA0C4"/>
                </a:solidFill>
                <a:latin typeface="Calibri" pitchFamily="34" charset="0"/>
                <a:ea typeface="Calibri" pitchFamily="34" charset="-122"/>
                <a:cs typeface="Calibri" pitchFamily="34" charset="-120"/>
              </a:rPr>
              <a:t>so sánh trước/sau trên cùng tập tài liệu</a:t>
            </a:r>
            <a:endParaRPr lang="en-US" sz="900" dirty="0"/>
          </a:p>
        </p:txBody>
      </p:sp>
      <p:sp>
        <p:nvSpPr>
          <p:cNvPr id="44" name="Text 42"/>
          <p:cNvSpPr/>
          <p:nvPr/>
        </p:nvSpPr>
        <p:spPr>
          <a:xfrm>
            <a:off x="502920" y="5715000"/>
            <a:ext cx="11155680" cy="457200"/>
          </a:xfrm>
          <a:prstGeom prst="rect">
            <a:avLst/>
          </a:prstGeom>
          <a:noFill/>
          <a:ln/>
        </p:spPr>
        <p:txBody>
          <a:bodyPr wrap="square" lIns="0" tIns="0" rIns="0" bIns="0" rtlCol="0" anchor="ctr"/>
          <a:lstStyle/>
          <a:p>
            <a:pPr indent="0" marL="0">
              <a:buNone/>
            </a:pPr>
            <a:r>
              <a:rPr lang="en-US" sz="1050" i="1" dirty="0">
                <a:solidFill>
                  <a:srgbClr val="7A8AB0"/>
                </a:solidFill>
                <a:latin typeface="Calibri" pitchFamily="34" charset="0"/>
                <a:ea typeface="Calibri" pitchFamily="34" charset="-122"/>
                <a:cs typeface="Calibri" pitchFamily="34" charset="-120"/>
              </a:rPr>
              <a:t>Nguyên tắc khi điền: mỗi con số phải ghi rõ phương pháp đo và cỡ mẫu. Một con số khiêm tốn nhưng minh bạch đáng tin hơn một con số đẹp không rõ nguồn.</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05</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Giá trị mang lại</a:t>
            </a:r>
            <a:endParaRPr lang="en-US" sz="3000" dirty="0"/>
          </a:p>
        </p:txBody>
      </p:sp>
      <p:sp>
        <p:nvSpPr>
          <p:cNvPr id="4" name="Shape 2"/>
          <p:cNvSpPr/>
          <p:nvPr/>
        </p:nvSpPr>
        <p:spPr>
          <a:xfrm>
            <a:off x="502920" y="1463040"/>
            <a:ext cx="3611880" cy="3200400"/>
          </a:xfrm>
          <a:prstGeom prst="roundRect">
            <a:avLst>
              <a:gd name="adj" fmla="val 2000"/>
            </a:avLst>
          </a:prstGeom>
          <a:solidFill>
            <a:srgbClr val="F5F9FB"/>
          </a:solidFill>
          <a:ln/>
          <a:effectLst>
            <a:outerShdw sx="100000" sy="100000" kx="0" ky="0" algn="bl" rotWithShape="0" blurRad="76200" dist="19050" dir="5400000">
              <a:srgbClr val="9AAAB5">
                <a:alpha val="30000"/>
              </a:srgbClr>
            </a:outerShdw>
          </a:effectLst>
        </p:spPr>
      </p:sp>
      <p:sp>
        <p:nvSpPr>
          <p:cNvPr id="5" name="Shape 3"/>
          <p:cNvSpPr/>
          <p:nvPr/>
        </p:nvSpPr>
        <p:spPr>
          <a:xfrm>
            <a:off x="731520" y="1664208"/>
            <a:ext cx="1371600" cy="365760"/>
          </a:xfrm>
          <a:prstGeom prst="roundRect">
            <a:avLst>
              <a:gd name="adj" fmla="val 50000"/>
            </a:avLst>
          </a:prstGeom>
          <a:solidFill>
            <a:srgbClr val="065A82"/>
          </a:solidFill>
          <a:ln/>
        </p:spPr>
      </p:sp>
      <p:sp>
        <p:nvSpPr>
          <p:cNvPr id="6" name="Text 4"/>
          <p:cNvSpPr/>
          <p:nvPr/>
        </p:nvSpPr>
        <p:spPr>
          <a:xfrm>
            <a:off x="731520" y="1664208"/>
            <a:ext cx="137160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Kinh tế</a:t>
            </a:r>
            <a:endParaRPr lang="en-US" sz="1250" dirty="0"/>
          </a:p>
        </p:txBody>
      </p:sp>
      <p:sp>
        <p:nvSpPr>
          <p:cNvPr id="7" name="Text 5"/>
          <p:cNvSpPr/>
          <p:nvPr/>
        </p:nvSpPr>
        <p:spPr>
          <a:xfrm>
            <a:off x="731520" y="2212848"/>
            <a:ext cx="3154680" cy="22860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Bỏ phần lớn công đoạn nhập liệu thủ công</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Giảm dung lượng lưu trữ nhờ tối ưu hai pha</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Chi phí triển khai thấp — nền tảng nguồn mở</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Chạy trên máy chủ thông thường, không cần thiết bị chuyên dụng</a:t>
            </a:r>
            <a:endParaRPr lang="en-US" sz="1100" dirty="0"/>
          </a:p>
        </p:txBody>
      </p:sp>
      <p:sp>
        <p:nvSpPr>
          <p:cNvPr id="8" name="Shape 6"/>
          <p:cNvSpPr/>
          <p:nvPr/>
        </p:nvSpPr>
        <p:spPr>
          <a:xfrm>
            <a:off x="4306824" y="1463040"/>
            <a:ext cx="3611880" cy="3200400"/>
          </a:xfrm>
          <a:prstGeom prst="roundRect">
            <a:avLst>
              <a:gd name="adj" fmla="val 2000"/>
            </a:avLst>
          </a:prstGeom>
          <a:solidFill>
            <a:srgbClr val="F5F9FB"/>
          </a:solidFill>
          <a:ln/>
          <a:effectLst>
            <a:outerShdw sx="100000" sy="100000" kx="0" ky="0" algn="bl" rotWithShape="0" blurRad="76200" dist="19050" dir="5400000">
              <a:srgbClr val="9AAAB5">
                <a:alpha val="30000"/>
              </a:srgbClr>
            </a:outerShdw>
          </a:effectLst>
        </p:spPr>
      </p:sp>
      <p:sp>
        <p:nvSpPr>
          <p:cNvPr id="9" name="Shape 7"/>
          <p:cNvSpPr/>
          <p:nvPr/>
        </p:nvSpPr>
        <p:spPr>
          <a:xfrm>
            <a:off x="4535424" y="1664208"/>
            <a:ext cx="1371600" cy="365760"/>
          </a:xfrm>
          <a:prstGeom prst="roundRect">
            <a:avLst>
              <a:gd name="adj" fmla="val 50000"/>
            </a:avLst>
          </a:prstGeom>
          <a:solidFill>
            <a:srgbClr val="1C7293"/>
          </a:solidFill>
          <a:ln/>
        </p:spPr>
      </p:sp>
      <p:sp>
        <p:nvSpPr>
          <p:cNvPr id="10" name="Text 8"/>
          <p:cNvSpPr/>
          <p:nvPr/>
        </p:nvSpPr>
        <p:spPr>
          <a:xfrm>
            <a:off x="4535424" y="1664208"/>
            <a:ext cx="137160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Xã hội</a:t>
            </a:r>
            <a:endParaRPr lang="en-US" sz="1250" dirty="0"/>
          </a:p>
        </p:txBody>
      </p:sp>
      <p:sp>
        <p:nvSpPr>
          <p:cNvPr id="11" name="Text 9"/>
          <p:cNvSpPr/>
          <p:nvPr/>
        </p:nvSpPr>
        <p:spPr>
          <a:xfrm>
            <a:off x="4535424" y="2212848"/>
            <a:ext cx="3154680" cy="22860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Chuyển đổi số thực chất — lấp đúng khoảng trống nhiều nơi bỏ qua</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Giải phóng nhân lực khỏi công việc lặp lại</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Minh bạch hóa: mọi thao tác đều có nhật ký truy được</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Sản phẩm do đội ngũ tại Hải Phòng xây dựng</a:t>
            </a:r>
            <a:endParaRPr lang="en-US" sz="1100" dirty="0"/>
          </a:p>
        </p:txBody>
      </p:sp>
      <p:sp>
        <p:nvSpPr>
          <p:cNvPr id="12" name="Shape 10"/>
          <p:cNvSpPr/>
          <p:nvPr/>
        </p:nvSpPr>
        <p:spPr>
          <a:xfrm>
            <a:off x="8110728" y="1463040"/>
            <a:ext cx="3611880" cy="3200400"/>
          </a:xfrm>
          <a:prstGeom prst="roundRect">
            <a:avLst>
              <a:gd name="adj" fmla="val 2000"/>
            </a:avLst>
          </a:prstGeom>
          <a:solidFill>
            <a:srgbClr val="F5F9FB"/>
          </a:solidFill>
          <a:ln/>
          <a:effectLst>
            <a:outerShdw sx="100000" sy="100000" kx="0" ky="0" algn="bl" rotWithShape="0" blurRad="76200" dist="19050" dir="5400000">
              <a:srgbClr val="9AAAB5">
                <a:alpha val="30000"/>
              </a:srgbClr>
            </a:outerShdw>
          </a:effectLst>
        </p:spPr>
      </p:sp>
      <p:sp>
        <p:nvSpPr>
          <p:cNvPr id="13" name="Shape 11"/>
          <p:cNvSpPr/>
          <p:nvPr/>
        </p:nvSpPr>
        <p:spPr>
          <a:xfrm>
            <a:off x="8339328" y="1664208"/>
            <a:ext cx="1371600" cy="365760"/>
          </a:xfrm>
          <a:prstGeom prst="roundRect">
            <a:avLst>
              <a:gd name="adj" fmla="val 50000"/>
            </a:avLst>
          </a:prstGeom>
          <a:solidFill>
            <a:srgbClr val="4A7C59"/>
          </a:solidFill>
          <a:ln/>
        </p:spPr>
      </p:sp>
      <p:sp>
        <p:nvSpPr>
          <p:cNvPr id="14" name="Text 12"/>
          <p:cNvSpPr/>
          <p:nvPr/>
        </p:nvSpPr>
        <p:spPr>
          <a:xfrm>
            <a:off x="8339328" y="1664208"/>
            <a:ext cx="1371600" cy="365760"/>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Môi trường</a:t>
            </a:r>
            <a:endParaRPr lang="en-US" sz="1250" dirty="0"/>
          </a:p>
        </p:txBody>
      </p:sp>
      <p:sp>
        <p:nvSpPr>
          <p:cNvPr id="15" name="Text 13"/>
          <p:cNvSpPr/>
          <p:nvPr/>
        </p:nvSpPr>
        <p:spPr>
          <a:xfrm>
            <a:off x="8339328" y="2212848"/>
            <a:ext cx="3154680" cy="2286000"/>
          </a:xfrm>
          <a:prstGeom prst="rect">
            <a:avLst/>
          </a:prstGeom>
          <a:noFill/>
          <a:ln/>
        </p:spPr>
        <p:txBody>
          <a:bodyPr wrap="square" lIns="0" tIns="0" rIns="0" bIns="0" rtlCol="0" anchor="ctr"/>
          <a:lstStyle/>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Giảm nhu cầu in ấn và sao chụp tài liệu</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Giảm dung lượng lưu trữ → giảm hạ tầng và điện năng</a:t>
            </a:r>
            <a:endParaRPr lang="en-US" sz="1100" dirty="0"/>
          </a:p>
          <a:p>
            <a:pPr marL="342900" indent="-342900">
              <a:lnSpc>
                <a:spcPts val="1500"/>
              </a:lnSpc>
              <a:spcAft>
                <a:spcPts val="700"/>
              </a:spcAft>
              <a:buSzPct val="100000"/>
              <a:buChar char="•"/>
            </a:pPr>
            <a:r>
              <a:rPr lang="en-US" sz="1100" dirty="0">
                <a:solidFill>
                  <a:srgbClr val="4A5A64"/>
                </a:solidFill>
                <a:latin typeface="Calibri" pitchFamily="34" charset="0"/>
                <a:ea typeface="Calibri" pitchFamily="34" charset="-122"/>
                <a:cs typeface="Calibri" pitchFamily="34" charset="-120"/>
              </a:rPr>
              <a:t>Giảm diện tích kho lưu trữ vật lý</a:t>
            </a:r>
            <a:endParaRPr lang="en-US" sz="1100" dirty="0"/>
          </a:p>
        </p:txBody>
      </p:sp>
      <p:sp>
        <p:nvSpPr>
          <p:cNvPr id="16" name="Shape 14"/>
          <p:cNvSpPr/>
          <p:nvPr/>
        </p:nvSpPr>
        <p:spPr>
          <a:xfrm>
            <a:off x="502920" y="4892040"/>
            <a:ext cx="11155680" cy="1234440"/>
          </a:xfrm>
          <a:prstGeom prst="roundRect">
            <a:avLst>
              <a:gd name="adj" fmla="val 5185"/>
            </a:avLst>
          </a:prstGeom>
          <a:solidFill>
            <a:srgbClr val="FDF6E8"/>
          </a:solidFill>
          <a:ln/>
          <a:effectLst>
            <a:outerShdw sx="100000" sy="100000" kx="0" ky="0" algn="bl" rotWithShape="0" blurRad="76200" dist="19050" dir="5400000">
              <a:srgbClr val="9AAAB5">
                <a:alpha val="30000"/>
              </a:srgbClr>
            </a:outerShdw>
          </a:effectLst>
        </p:spPr>
      </p:sp>
      <p:sp>
        <p:nvSpPr>
          <p:cNvPr id="17" name="Text 15"/>
          <p:cNvSpPr/>
          <p:nvPr/>
        </p:nvSpPr>
        <p:spPr>
          <a:xfrm>
            <a:off x="777240" y="5047488"/>
            <a:ext cx="10607040" cy="274320"/>
          </a:xfrm>
          <a:prstGeom prst="rect">
            <a:avLst/>
          </a:prstGeom>
          <a:noFill/>
          <a:ln/>
        </p:spPr>
        <p:txBody>
          <a:bodyPr wrap="square" lIns="0" tIns="0" rIns="0" bIns="0" rtlCol="0" anchor="ctr"/>
          <a:lstStyle/>
          <a:p>
            <a:pPr indent="0" marL="0">
              <a:buNone/>
            </a:pPr>
            <a:r>
              <a:rPr lang="en-US" sz="1350" b="1" dirty="0">
                <a:solidFill>
                  <a:srgbClr val="8A5D04"/>
                </a:solidFill>
                <a:latin typeface="Cambria" pitchFamily="34" charset="0"/>
                <a:ea typeface="Cambria" pitchFamily="34" charset="-122"/>
                <a:cs typeface="Cambria" pitchFamily="34" charset="-120"/>
              </a:rPr>
              <a:t>Trình bày trung thực về giá trị môi trường</a:t>
            </a:r>
            <a:endParaRPr lang="en-US" sz="1350" dirty="0"/>
          </a:p>
        </p:txBody>
      </p:sp>
      <p:sp>
        <p:nvSpPr>
          <p:cNvPr id="18" name="Text 16"/>
          <p:cNvSpPr/>
          <p:nvPr/>
        </p:nvSpPr>
        <p:spPr>
          <a:xfrm>
            <a:off x="777240" y="5358384"/>
            <a:ext cx="10607040" cy="594360"/>
          </a:xfrm>
          <a:prstGeom prst="rect">
            <a:avLst/>
          </a:prstGeom>
          <a:noFill/>
          <a:ln/>
        </p:spPr>
        <p:txBody>
          <a:bodyPr wrap="square" lIns="0" tIns="0" rIns="0" bIns="0" rtlCol="0" anchor="ctr"/>
          <a:lstStyle/>
          <a:p>
            <a:pPr indent="0" marL="0">
              <a:lnSpc>
                <a:spcPts val="1600"/>
              </a:lnSpc>
              <a:buNone/>
            </a:pPr>
            <a:r>
              <a:rPr lang="en-US" sz="1100" dirty="0">
                <a:solidFill>
                  <a:srgbClr val="6B5416"/>
                </a:solidFill>
                <a:latin typeface="Calibri" pitchFamily="34" charset="0"/>
                <a:ea typeface="Calibri" pitchFamily="34" charset="-122"/>
                <a:cs typeface="Calibri" pitchFamily="34" charset="-120"/>
              </a:rPr>
              <a:t>Đây là giải pháp phần mềm — tác động môi trường là gián tiếp và ở mức khiêm tốn. Không gán ghép với các mục tiêu lớn như Net Zero. Trình bày đúng mức sẽ đáng tin hơn nhiều so với phóng đại, và bản cam kết dự thi ràng buộc tính trung thực của mọi thông tin trong hồ sơ.</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06</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Khách hàng mục tiêu và khả năng nhân rộng</a:t>
            </a:r>
            <a:endParaRPr lang="en-US" sz="3000" dirty="0"/>
          </a:p>
        </p:txBody>
      </p:sp>
      <p:sp>
        <p:nvSpPr>
          <p:cNvPr id="4" name="Text 2"/>
          <p:cNvSpPr/>
          <p:nvPr/>
        </p:nvSpPr>
        <p:spPr>
          <a:xfrm>
            <a:off x="502920" y="1325880"/>
            <a:ext cx="11155680" cy="292608"/>
          </a:xfrm>
          <a:prstGeom prst="rect">
            <a:avLst/>
          </a:prstGeom>
          <a:noFill/>
          <a:ln/>
        </p:spPr>
        <p:txBody>
          <a:bodyPr wrap="square" lIns="0" tIns="0" rIns="0" bIns="0" rtlCol="0" anchor="ctr"/>
          <a:lstStyle/>
          <a:p>
            <a:pPr indent="0" marL="0">
              <a:buNone/>
            </a:pPr>
            <a:r>
              <a:rPr lang="en-US" sz="1300" dirty="0">
                <a:solidFill>
                  <a:srgbClr val="4A5A64"/>
                </a:solidFill>
                <a:latin typeface="Calibri" pitchFamily="34" charset="0"/>
                <a:ea typeface="Calibri" pitchFamily="34" charset="-122"/>
                <a:cs typeface="Calibri" pitchFamily="34" charset="-120"/>
              </a:rPr>
              <a:t>Cùng một lõi công nghệ, chỉ thay lược đồ trích xuất theo loại hồ sơ của từng đơn vị</a:t>
            </a:r>
            <a:endParaRPr lang="en-US" sz="1300" dirty="0"/>
          </a:p>
        </p:txBody>
      </p:sp>
      <p:sp>
        <p:nvSpPr>
          <p:cNvPr id="5" name="Shape 3"/>
          <p:cNvSpPr/>
          <p:nvPr/>
        </p:nvSpPr>
        <p:spPr>
          <a:xfrm>
            <a:off x="502920" y="1737360"/>
            <a:ext cx="11155680" cy="566928"/>
          </a:xfrm>
          <a:prstGeom prst="roundRect">
            <a:avLst>
              <a:gd name="adj" fmla="val 11290"/>
            </a:avLst>
          </a:prstGeom>
          <a:solidFill>
            <a:srgbClr val="F5F9FB"/>
          </a:solidFill>
          <a:ln/>
          <a:effectLst>
            <a:outerShdw sx="100000" sy="100000" kx="0" ky="0" algn="bl" rotWithShape="0" blurRad="76200" dist="19050" dir="5400000">
              <a:srgbClr val="9AAAB5">
                <a:alpha val="30000"/>
              </a:srgbClr>
            </a:outerShdw>
          </a:effectLst>
        </p:spPr>
      </p:sp>
      <p:sp>
        <p:nvSpPr>
          <p:cNvPr id="6" name="Text 4"/>
          <p:cNvSpPr/>
          <p:nvPr/>
        </p:nvSpPr>
        <p:spPr>
          <a:xfrm>
            <a:off x="731520" y="1792224"/>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Cơ sở giáo dục</a:t>
            </a:r>
            <a:endParaRPr lang="en-US" sz="1150" dirty="0"/>
          </a:p>
        </p:txBody>
      </p:sp>
      <p:sp>
        <p:nvSpPr>
          <p:cNvPr id="7" name="Text 5"/>
          <p:cNvSpPr/>
          <p:nvPr/>
        </p:nvSpPr>
        <p:spPr>
          <a:xfrm>
            <a:off x="731520" y="2048256"/>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Tài liệu thư viện, hồ sơ sinh viên, hồ sơ nhân sự, công văn</a:t>
            </a:r>
            <a:endParaRPr lang="en-US" sz="900" dirty="0"/>
          </a:p>
        </p:txBody>
      </p:sp>
      <p:sp>
        <p:nvSpPr>
          <p:cNvPr id="8" name="Shape 6"/>
          <p:cNvSpPr/>
          <p:nvPr/>
        </p:nvSpPr>
        <p:spPr>
          <a:xfrm>
            <a:off x="3291840" y="1883664"/>
            <a:ext cx="1234440" cy="301752"/>
          </a:xfrm>
          <a:prstGeom prst="roundRect">
            <a:avLst>
              <a:gd name="adj" fmla="val 48485"/>
            </a:avLst>
          </a:prstGeom>
          <a:solidFill>
            <a:srgbClr val="065A82"/>
          </a:solidFill>
          <a:ln/>
        </p:spPr>
      </p:sp>
      <p:sp>
        <p:nvSpPr>
          <p:cNvPr id="9" name="Text 7"/>
          <p:cNvSpPr/>
          <p:nvPr/>
        </p:nvSpPr>
        <p:spPr>
          <a:xfrm>
            <a:off x="3291840" y="1883664"/>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Cao</a:t>
            </a:r>
            <a:endParaRPr lang="en-US" sz="950" dirty="0"/>
          </a:p>
        </p:txBody>
      </p:sp>
      <p:sp>
        <p:nvSpPr>
          <p:cNvPr id="10" name="Text 8"/>
          <p:cNvSpPr/>
          <p:nvPr/>
        </p:nvSpPr>
        <p:spPr>
          <a:xfrm>
            <a:off x="4709160" y="1911096"/>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Đã có sản phẩm chạy thật trong chính nhóm này</a:t>
            </a:r>
            <a:endParaRPr lang="en-US" sz="1050" dirty="0"/>
          </a:p>
        </p:txBody>
      </p:sp>
      <p:sp>
        <p:nvSpPr>
          <p:cNvPr id="11" name="Shape 9"/>
          <p:cNvSpPr/>
          <p:nvPr/>
        </p:nvSpPr>
        <p:spPr>
          <a:xfrm>
            <a:off x="502920" y="2395728"/>
            <a:ext cx="11155680" cy="566928"/>
          </a:xfrm>
          <a:prstGeom prst="roundRect">
            <a:avLst>
              <a:gd name="adj" fmla="val 11290"/>
            </a:avLst>
          </a:prstGeom>
          <a:solidFill>
            <a:srgbClr val="FAFCFD"/>
          </a:solidFill>
          <a:ln/>
          <a:effectLst>
            <a:outerShdw sx="100000" sy="100000" kx="0" ky="0" algn="bl" rotWithShape="0" blurRad="76200" dist="19050" dir="5400000">
              <a:srgbClr val="9AAAB5">
                <a:alpha val="30000"/>
              </a:srgbClr>
            </a:outerShdw>
          </a:effectLst>
        </p:spPr>
      </p:sp>
      <p:sp>
        <p:nvSpPr>
          <p:cNvPr id="12" name="Text 10"/>
          <p:cNvSpPr/>
          <p:nvPr/>
        </p:nvSpPr>
        <p:spPr>
          <a:xfrm>
            <a:off x="731520" y="2450592"/>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Đơn vị sự nghiệp công lập</a:t>
            </a:r>
            <a:endParaRPr lang="en-US" sz="1150" dirty="0"/>
          </a:p>
        </p:txBody>
      </p:sp>
      <p:sp>
        <p:nvSpPr>
          <p:cNvPr id="13" name="Text 11"/>
          <p:cNvSpPr/>
          <p:nvPr/>
        </p:nvSpPr>
        <p:spPr>
          <a:xfrm>
            <a:off x="731520" y="2706624"/>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Công văn, hồ sơ lưu trữ, hồ sơ chuyên môn</a:t>
            </a:r>
            <a:endParaRPr lang="en-US" sz="900" dirty="0"/>
          </a:p>
        </p:txBody>
      </p:sp>
      <p:sp>
        <p:nvSpPr>
          <p:cNvPr id="14" name="Shape 12"/>
          <p:cNvSpPr/>
          <p:nvPr/>
        </p:nvSpPr>
        <p:spPr>
          <a:xfrm>
            <a:off x="3291840" y="2542032"/>
            <a:ext cx="1234440" cy="301752"/>
          </a:xfrm>
          <a:prstGeom prst="roundRect">
            <a:avLst>
              <a:gd name="adj" fmla="val 48485"/>
            </a:avLst>
          </a:prstGeom>
          <a:solidFill>
            <a:srgbClr val="065A82"/>
          </a:solidFill>
          <a:ln/>
        </p:spPr>
      </p:sp>
      <p:sp>
        <p:nvSpPr>
          <p:cNvPr id="15" name="Text 13"/>
          <p:cNvSpPr/>
          <p:nvPr/>
        </p:nvSpPr>
        <p:spPr>
          <a:xfrm>
            <a:off x="3291840" y="2542032"/>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Cao</a:t>
            </a:r>
            <a:endParaRPr lang="en-US" sz="950" dirty="0"/>
          </a:p>
        </p:txBody>
      </p:sp>
      <p:sp>
        <p:nvSpPr>
          <p:cNvPr id="16" name="Text 14"/>
          <p:cNvSpPr/>
          <p:nvPr/>
        </p:nvSpPr>
        <p:spPr>
          <a:xfrm>
            <a:off x="4709160" y="2569464"/>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Bài toán giống hệt, quy trình tương tự</a:t>
            </a:r>
            <a:endParaRPr lang="en-US" sz="1050" dirty="0"/>
          </a:p>
        </p:txBody>
      </p:sp>
      <p:sp>
        <p:nvSpPr>
          <p:cNvPr id="17" name="Shape 15"/>
          <p:cNvSpPr/>
          <p:nvPr/>
        </p:nvSpPr>
        <p:spPr>
          <a:xfrm>
            <a:off x="502920" y="3054096"/>
            <a:ext cx="11155680" cy="566928"/>
          </a:xfrm>
          <a:prstGeom prst="roundRect">
            <a:avLst>
              <a:gd name="adj" fmla="val 11290"/>
            </a:avLst>
          </a:prstGeom>
          <a:solidFill>
            <a:srgbClr val="F5F9FB"/>
          </a:solidFill>
          <a:ln/>
          <a:effectLst>
            <a:outerShdw sx="100000" sy="100000" kx="0" ky="0" algn="bl" rotWithShape="0" blurRad="76200" dist="19050" dir="5400000">
              <a:srgbClr val="9AAAB5">
                <a:alpha val="30000"/>
              </a:srgbClr>
            </a:outerShdw>
          </a:effectLst>
        </p:spPr>
      </p:sp>
      <p:sp>
        <p:nvSpPr>
          <p:cNvPr id="18" name="Text 16"/>
          <p:cNvSpPr/>
          <p:nvPr/>
        </p:nvSpPr>
        <p:spPr>
          <a:xfrm>
            <a:off x="731520" y="3108960"/>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Cơ quan hành chính nhà nước</a:t>
            </a:r>
            <a:endParaRPr lang="en-US" sz="1150" dirty="0"/>
          </a:p>
        </p:txBody>
      </p:sp>
      <p:sp>
        <p:nvSpPr>
          <p:cNvPr id="19" name="Text 17"/>
          <p:cNvSpPr/>
          <p:nvPr/>
        </p:nvSpPr>
        <p:spPr>
          <a:xfrm>
            <a:off x="731520" y="3364992"/>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Hồ sơ thủ tục hành chính, văn bản lưu trữ</a:t>
            </a:r>
            <a:endParaRPr lang="en-US" sz="900" dirty="0"/>
          </a:p>
        </p:txBody>
      </p:sp>
      <p:sp>
        <p:nvSpPr>
          <p:cNvPr id="20" name="Shape 18"/>
          <p:cNvSpPr/>
          <p:nvPr/>
        </p:nvSpPr>
        <p:spPr>
          <a:xfrm>
            <a:off x="3291840" y="3200400"/>
            <a:ext cx="1234440" cy="301752"/>
          </a:xfrm>
          <a:prstGeom prst="roundRect">
            <a:avLst>
              <a:gd name="adj" fmla="val 48485"/>
            </a:avLst>
          </a:prstGeom>
          <a:solidFill>
            <a:srgbClr val="1C7293"/>
          </a:solidFill>
          <a:ln/>
        </p:spPr>
      </p:sp>
      <p:sp>
        <p:nvSpPr>
          <p:cNvPr id="21" name="Text 19"/>
          <p:cNvSpPr/>
          <p:nvPr/>
        </p:nvSpPr>
        <p:spPr>
          <a:xfrm>
            <a:off x="3291840" y="3200400"/>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Trung bình</a:t>
            </a:r>
            <a:endParaRPr lang="en-US" sz="950" dirty="0"/>
          </a:p>
        </p:txBody>
      </p:sp>
      <p:sp>
        <p:nvSpPr>
          <p:cNvPr id="22" name="Text 20"/>
          <p:cNvSpPr/>
          <p:nvPr/>
        </p:nvSpPr>
        <p:spPr>
          <a:xfrm>
            <a:off x="4709160" y="3227832"/>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Tiềm năng lớn — rào cản thủ tục và bảo mật cao</a:t>
            </a:r>
            <a:endParaRPr lang="en-US" sz="1050" dirty="0"/>
          </a:p>
        </p:txBody>
      </p:sp>
      <p:sp>
        <p:nvSpPr>
          <p:cNvPr id="23" name="Shape 21"/>
          <p:cNvSpPr/>
          <p:nvPr/>
        </p:nvSpPr>
        <p:spPr>
          <a:xfrm>
            <a:off x="502920" y="3712464"/>
            <a:ext cx="11155680" cy="566928"/>
          </a:xfrm>
          <a:prstGeom prst="roundRect">
            <a:avLst>
              <a:gd name="adj" fmla="val 11290"/>
            </a:avLst>
          </a:prstGeom>
          <a:solidFill>
            <a:srgbClr val="FAFCFD"/>
          </a:solidFill>
          <a:ln/>
          <a:effectLst>
            <a:outerShdw sx="100000" sy="100000" kx="0" ky="0" algn="bl" rotWithShape="0" blurRad="76200" dist="19050" dir="5400000">
              <a:srgbClr val="9AAAB5">
                <a:alpha val="30000"/>
              </a:srgbClr>
            </a:outerShdw>
          </a:effectLst>
        </p:spPr>
      </p:sp>
      <p:sp>
        <p:nvSpPr>
          <p:cNvPr id="24" name="Text 22"/>
          <p:cNvSpPr/>
          <p:nvPr/>
        </p:nvSpPr>
        <p:spPr>
          <a:xfrm>
            <a:off x="731520" y="3767328"/>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Ban quản lý khu công nghiệp</a:t>
            </a:r>
            <a:endParaRPr lang="en-US" sz="1150" dirty="0"/>
          </a:p>
        </p:txBody>
      </p:sp>
      <p:sp>
        <p:nvSpPr>
          <p:cNvPr id="25" name="Text 23"/>
          <p:cNvSpPr/>
          <p:nvPr/>
        </p:nvSpPr>
        <p:spPr>
          <a:xfrm>
            <a:off x="731520" y="4023360"/>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Hồ sơ doanh nghiệp, giấy phép, hồ sơ môi trường</a:t>
            </a:r>
            <a:endParaRPr lang="en-US" sz="900" dirty="0"/>
          </a:p>
        </p:txBody>
      </p:sp>
      <p:sp>
        <p:nvSpPr>
          <p:cNvPr id="26" name="Shape 24"/>
          <p:cNvSpPr/>
          <p:nvPr/>
        </p:nvSpPr>
        <p:spPr>
          <a:xfrm>
            <a:off x="3291840" y="3858768"/>
            <a:ext cx="1234440" cy="301752"/>
          </a:xfrm>
          <a:prstGeom prst="roundRect">
            <a:avLst>
              <a:gd name="adj" fmla="val 48485"/>
            </a:avLst>
          </a:prstGeom>
          <a:solidFill>
            <a:srgbClr val="1C7293"/>
          </a:solidFill>
          <a:ln/>
        </p:spPr>
      </p:sp>
      <p:sp>
        <p:nvSpPr>
          <p:cNvPr id="27" name="Text 25"/>
          <p:cNvSpPr/>
          <p:nvPr/>
        </p:nvSpPr>
        <p:spPr>
          <a:xfrm>
            <a:off x="3291840" y="3858768"/>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Trung bình</a:t>
            </a:r>
            <a:endParaRPr lang="en-US" sz="950" dirty="0"/>
          </a:p>
        </p:txBody>
      </p:sp>
      <p:sp>
        <p:nvSpPr>
          <p:cNvPr id="28" name="Text 26"/>
          <p:cNvSpPr/>
          <p:nvPr/>
        </p:nvSpPr>
        <p:spPr>
          <a:xfrm>
            <a:off x="4709160" y="3886200"/>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Cần phát triển lược đồ chuyên biệt</a:t>
            </a:r>
            <a:endParaRPr lang="en-US" sz="1050" dirty="0"/>
          </a:p>
        </p:txBody>
      </p:sp>
      <p:sp>
        <p:nvSpPr>
          <p:cNvPr id="29" name="Shape 27"/>
          <p:cNvSpPr/>
          <p:nvPr/>
        </p:nvSpPr>
        <p:spPr>
          <a:xfrm>
            <a:off x="502920" y="4370832"/>
            <a:ext cx="11155680" cy="566928"/>
          </a:xfrm>
          <a:prstGeom prst="roundRect">
            <a:avLst>
              <a:gd name="adj" fmla="val 11290"/>
            </a:avLst>
          </a:prstGeom>
          <a:solidFill>
            <a:srgbClr val="F5F9FB"/>
          </a:solidFill>
          <a:ln/>
          <a:effectLst>
            <a:outerShdw sx="100000" sy="100000" kx="0" ky="0" algn="bl" rotWithShape="0" blurRad="76200" dist="19050" dir="5400000">
              <a:srgbClr val="9AAAB5">
                <a:alpha val="30000"/>
              </a:srgbClr>
            </a:outerShdw>
          </a:effectLst>
        </p:spPr>
      </p:sp>
      <p:sp>
        <p:nvSpPr>
          <p:cNvPr id="30" name="Text 28"/>
          <p:cNvSpPr/>
          <p:nvPr/>
        </p:nvSpPr>
        <p:spPr>
          <a:xfrm>
            <a:off x="731520" y="4425696"/>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Doanh nghiệp cảng, logistics</a:t>
            </a:r>
            <a:endParaRPr lang="en-US" sz="1150" dirty="0"/>
          </a:p>
        </p:txBody>
      </p:sp>
      <p:sp>
        <p:nvSpPr>
          <p:cNvPr id="31" name="Text 29"/>
          <p:cNvSpPr/>
          <p:nvPr/>
        </p:nvSpPr>
        <p:spPr>
          <a:xfrm>
            <a:off x="731520" y="4681728"/>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Chứng từ, vận đơn, tờ khai</a:t>
            </a:r>
            <a:endParaRPr lang="en-US" sz="900" dirty="0"/>
          </a:p>
        </p:txBody>
      </p:sp>
      <p:sp>
        <p:nvSpPr>
          <p:cNvPr id="32" name="Shape 30"/>
          <p:cNvSpPr/>
          <p:nvPr/>
        </p:nvSpPr>
        <p:spPr>
          <a:xfrm>
            <a:off x="3291840" y="4517136"/>
            <a:ext cx="1234440" cy="301752"/>
          </a:xfrm>
          <a:prstGeom prst="roundRect">
            <a:avLst>
              <a:gd name="adj" fmla="val 48485"/>
            </a:avLst>
          </a:prstGeom>
          <a:solidFill>
            <a:srgbClr val="1C7293"/>
          </a:solidFill>
          <a:ln/>
        </p:spPr>
      </p:sp>
      <p:sp>
        <p:nvSpPr>
          <p:cNvPr id="33" name="Text 31"/>
          <p:cNvSpPr/>
          <p:nvPr/>
        </p:nvSpPr>
        <p:spPr>
          <a:xfrm>
            <a:off x="3291840" y="4517136"/>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Trung bình</a:t>
            </a:r>
            <a:endParaRPr lang="en-US" sz="950" dirty="0"/>
          </a:p>
        </p:txBody>
      </p:sp>
      <p:sp>
        <p:nvSpPr>
          <p:cNvPr id="34" name="Text 32"/>
          <p:cNvSpPr/>
          <p:nvPr/>
        </p:nvSpPr>
        <p:spPr>
          <a:xfrm>
            <a:off x="4709160" y="4544568"/>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Thị trường lớn nhất tại Hải Phòng — lộ trình mở rộng</a:t>
            </a:r>
            <a:endParaRPr lang="en-US" sz="1050" dirty="0"/>
          </a:p>
        </p:txBody>
      </p:sp>
      <p:sp>
        <p:nvSpPr>
          <p:cNvPr id="35" name="Shape 33"/>
          <p:cNvSpPr/>
          <p:nvPr/>
        </p:nvSpPr>
        <p:spPr>
          <a:xfrm>
            <a:off x="502920" y="5029200"/>
            <a:ext cx="11155680" cy="566928"/>
          </a:xfrm>
          <a:prstGeom prst="roundRect">
            <a:avLst>
              <a:gd name="adj" fmla="val 11290"/>
            </a:avLst>
          </a:prstGeom>
          <a:solidFill>
            <a:srgbClr val="FAFCFD"/>
          </a:solidFill>
          <a:ln/>
          <a:effectLst>
            <a:outerShdw sx="100000" sy="100000" kx="0" ky="0" algn="bl" rotWithShape="0" blurRad="76200" dist="19050" dir="5400000">
              <a:srgbClr val="9AAAB5">
                <a:alpha val="30000"/>
              </a:srgbClr>
            </a:outerShdw>
          </a:effectLst>
        </p:spPr>
      </p:sp>
      <p:sp>
        <p:nvSpPr>
          <p:cNvPr id="36" name="Text 34"/>
          <p:cNvSpPr/>
          <p:nvPr/>
        </p:nvSpPr>
        <p:spPr>
          <a:xfrm>
            <a:off x="731520" y="5084064"/>
            <a:ext cx="2377440" cy="237744"/>
          </a:xfrm>
          <a:prstGeom prst="rect">
            <a:avLst/>
          </a:prstGeom>
          <a:noFill/>
          <a:ln/>
        </p:spPr>
        <p:txBody>
          <a:bodyPr wrap="square" lIns="0" tIns="0" rIns="0" bIns="0" rtlCol="0" anchor="ctr"/>
          <a:lstStyle/>
          <a:p>
            <a:pPr indent="0" marL="0">
              <a:buNone/>
            </a:pPr>
            <a:r>
              <a:rPr lang="en-US" sz="1150" b="1" dirty="0">
                <a:solidFill>
                  <a:srgbClr val="21295C"/>
                </a:solidFill>
                <a:latin typeface="Calibri" pitchFamily="34" charset="0"/>
                <a:ea typeface="Calibri" pitchFamily="34" charset="-122"/>
                <a:cs typeface="Calibri" pitchFamily="34" charset="-120"/>
              </a:rPr>
              <a:t>Doanh nghiệp vừa và nhỏ</a:t>
            </a:r>
            <a:endParaRPr lang="en-US" sz="1150" dirty="0"/>
          </a:p>
        </p:txBody>
      </p:sp>
      <p:sp>
        <p:nvSpPr>
          <p:cNvPr id="37" name="Text 35"/>
          <p:cNvSpPr/>
          <p:nvPr/>
        </p:nvSpPr>
        <p:spPr>
          <a:xfrm>
            <a:off x="731520" y="5340096"/>
            <a:ext cx="2377440" cy="219456"/>
          </a:xfrm>
          <a:prstGeom prst="rect">
            <a:avLst/>
          </a:prstGeom>
          <a:noFill/>
          <a:ln/>
        </p:spPr>
        <p:txBody>
          <a:bodyPr wrap="square" lIns="0" tIns="0" rIns="0" bIns="0" rtlCol="0" anchor="ctr"/>
          <a:lstStyle/>
          <a:p>
            <a:pPr indent="0" marL="0">
              <a:buNone/>
            </a:pPr>
            <a:r>
              <a:rPr lang="en-US" sz="900" dirty="0">
                <a:solidFill>
                  <a:srgbClr val="6A7A84"/>
                </a:solidFill>
                <a:latin typeface="Calibri" pitchFamily="34" charset="0"/>
                <a:ea typeface="Calibri" pitchFamily="34" charset="-122"/>
                <a:cs typeface="Calibri" pitchFamily="34" charset="-120"/>
              </a:rPr>
              <a:t>Hợp đồng, chứng từ kế toán</a:t>
            </a:r>
            <a:endParaRPr lang="en-US" sz="900" dirty="0"/>
          </a:p>
        </p:txBody>
      </p:sp>
      <p:sp>
        <p:nvSpPr>
          <p:cNvPr id="38" name="Shape 36"/>
          <p:cNvSpPr/>
          <p:nvPr/>
        </p:nvSpPr>
        <p:spPr>
          <a:xfrm>
            <a:off x="3291840" y="5175504"/>
            <a:ext cx="1234440" cy="301752"/>
          </a:xfrm>
          <a:prstGeom prst="roundRect">
            <a:avLst>
              <a:gd name="adj" fmla="val 48485"/>
            </a:avLst>
          </a:prstGeom>
          <a:solidFill>
            <a:srgbClr val="8A9BA5"/>
          </a:solidFill>
          <a:ln/>
        </p:spPr>
      </p:sp>
      <p:sp>
        <p:nvSpPr>
          <p:cNvPr id="39" name="Text 37"/>
          <p:cNvSpPr/>
          <p:nvPr/>
        </p:nvSpPr>
        <p:spPr>
          <a:xfrm>
            <a:off x="3291840" y="5175504"/>
            <a:ext cx="1234440" cy="30175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Thấp</a:t>
            </a:r>
            <a:endParaRPr lang="en-US" sz="950" dirty="0"/>
          </a:p>
        </p:txBody>
      </p:sp>
      <p:sp>
        <p:nvSpPr>
          <p:cNvPr id="40" name="Text 38"/>
          <p:cNvSpPr/>
          <p:nvPr/>
        </p:nvSpPr>
        <p:spPr>
          <a:xfrm>
            <a:off x="4709160" y="5202936"/>
            <a:ext cx="6720840" cy="274320"/>
          </a:xfrm>
          <a:prstGeom prst="rect">
            <a:avLst/>
          </a:prstGeom>
          <a:noFill/>
          <a:ln/>
        </p:spPr>
        <p:txBody>
          <a:bodyPr wrap="square" lIns="0" tIns="0" rIns="0" bIns="0" rtlCol="0" anchor="ctr"/>
          <a:lstStyle/>
          <a:p>
            <a:pPr indent="0" marL="0">
              <a:buNone/>
            </a:pPr>
            <a:r>
              <a:rPr lang="en-US" sz="1050" dirty="0">
                <a:solidFill>
                  <a:srgbClr val="4A5A64"/>
                </a:solidFill>
                <a:latin typeface="Calibri" pitchFamily="34" charset="0"/>
                <a:ea typeface="Calibri" pitchFamily="34" charset="-122"/>
                <a:cs typeface="Calibri" pitchFamily="34" charset="-120"/>
              </a:rPr>
              <a:t>Phân tán, chi phí tiếp cận cao</a:t>
            </a:r>
            <a:endParaRPr lang="en-US" sz="1050" dirty="0"/>
          </a:p>
        </p:txBody>
      </p:sp>
      <p:sp>
        <p:nvSpPr>
          <p:cNvPr id="41" name="Text 39"/>
          <p:cNvSpPr/>
          <p:nvPr/>
        </p:nvSpPr>
        <p:spPr>
          <a:xfrm>
            <a:off x="502920" y="6053328"/>
            <a:ext cx="11155680" cy="457200"/>
          </a:xfrm>
          <a:prstGeom prst="rect">
            <a:avLst/>
          </a:prstGeom>
          <a:noFill/>
          <a:ln/>
        </p:spPr>
        <p:txBody>
          <a:bodyPr wrap="square" lIns="0" tIns="0" rIns="0" bIns="0" rtlCol="0" anchor="ctr"/>
          <a:lstStyle/>
          <a:p>
            <a:pPr algn="l" indent="0" marL="0">
              <a:lnSpc>
                <a:spcPts val="1200"/>
              </a:lnSpc>
              <a:buNone/>
            </a:pPr>
            <a:r>
              <a:rPr lang="en-US" sz="900" dirty="0">
                <a:solidFill>
                  <a:srgbClr val="8A98A2"/>
                </a:solidFill>
                <a:latin typeface="Calibri" pitchFamily="34" charset="0"/>
                <a:ea typeface="Calibri" pitchFamily="34" charset="-122"/>
                <a:cs typeface="Calibri" pitchFamily="34" charset="-120"/>
              </a:rPr>
              <a:t>Quy mô thị trường định lượng: [cần điền] — chỉ ước lượng từ nguồn công bố chính thức, kèm giả định rõ ràng. Không dùng số liệu không kiểm chứng được.</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07</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Ba rào cản chúng tôi đã nhận diện</a:t>
            </a:r>
            <a:endParaRPr lang="en-US" sz="3000" dirty="0"/>
          </a:p>
        </p:txBody>
      </p:sp>
      <p:sp>
        <p:nvSpPr>
          <p:cNvPr id="4" name="Text 2"/>
          <p:cNvSpPr/>
          <p:nvPr/>
        </p:nvSpPr>
        <p:spPr>
          <a:xfrm>
            <a:off x="1143000" y="859536"/>
            <a:ext cx="10515600" cy="310896"/>
          </a:xfrm>
          <a:prstGeom prst="rect">
            <a:avLst/>
          </a:prstGeom>
          <a:noFill/>
          <a:ln/>
        </p:spPr>
        <p:txBody>
          <a:bodyPr wrap="square" lIns="0" tIns="0" rIns="0" bIns="0" rtlCol="0" anchor="ctr"/>
          <a:lstStyle/>
          <a:p>
            <a:pPr algn="l" indent="0" marL="0">
              <a:buNone/>
            </a:pPr>
            <a:r>
              <a:rPr lang="en-US" sz="1350" i="1" dirty="0">
                <a:solidFill>
                  <a:srgbClr val="5A6B75"/>
                </a:solidFill>
                <a:latin typeface="Calibri" pitchFamily="34" charset="0"/>
                <a:ea typeface="Calibri" pitchFamily="34" charset="-122"/>
                <a:cs typeface="Calibri" pitchFamily="34" charset="-120"/>
              </a:rPr>
              <a:t>Chủ động nêu trước — vì đây là điều kiện để giải pháp trở thành thực chiến</a:t>
            </a:r>
            <a:endParaRPr lang="en-US" sz="1350" dirty="0"/>
          </a:p>
        </p:txBody>
      </p:sp>
      <p:sp>
        <p:nvSpPr>
          <p:cNvPr id="5" name="Shape 3"/>
          <p:cNvSpPr/>
          <p:nvPr/>
        </p:nvSpPr>
        <p:spPr>
          <a:xfrm>
            <a:off x="502920" y="1463040"/>
            <a:ext cx="11155680" cy="1481328"/>
          </a:xfrm>
          <a:prstGeom prst="roundRect">
            <a:avLst>
              <a:gd name="adj" fmla="val 4321"/>
            </a:avLst>
          </a:prstGeom>
          <a:solidFill>
            <a:srgbClr val="FDF1EF"/>
          </a:solidFill>
          <a:ln/>
          <a:effectLst>
            <a:outerShdw sx="100000" sy="100000" kx="0" ky="0" algn="bl" rotWithShape="0" blurRad="76200" dist="19050" dir="5400000">
              <a:srgbClr val="9AAAB5">
                <a:alpha val="30000"/>
              </a:srgbClr>
            </a:outerShdw>
          </a:effectLst>
        </p:spPr>
      </p:sp>
      <p:sp>
        <p:nvSpPr>
          <p:cNvPr id="6" name="Shape 4"/>
          <p:cNvSpPr/>
          <p:nvPr/>
        </p:nvSpPr>
        <p:spPr>
          <a:xfrm>
            <a:off x="731520" y="1609344"/>
            <a:ext cx="420624" cy="420624"/>
          </a:xfrm>
          <a:prstGeom prst="ellipse">
            <a:avLst/>
          </a:prstGeom>
          <a:solidFill>
            <a:srgbClr val="B0453A"/>
          </a:solidFill>
          <a:ln/>
        </p:spPr>
      </p:sp>
      <p:sp>
        <p:nvSpPr>
          <p:cNvPr id="7" name="Text 5"/>
          <p:cNvSpPr/>
          <p:nvPr/>
        </p:nvSpPr>
        <p:spPr>
          <a:xfrm>
            <a:off x="731520" y="160934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8" name="Text 6"/>
          <p:cNvSpPr/>
          <p:nvPr/>
        </p:nvSpPr>
        <p:spPr>
          <a:xfrm>
            <a:off x="1280160" y="1591056"/>
            <a:ext cx="3657600" cy="256032"/>
          </a:xfrm>
          <a:prstGeom prst="rect">
            <a:avLst/>
          </a:prstGeom>
          <a:noFill/>
          <a:ln/>
        </p:spPr>
        <p:txBody>
          <a:bodyPr wrap="square" lIns="0" tIns="0" rIns="0" bIns="0" rtlCol="0" anchor="ctr"/>
          <a:lstStyle/>
          <a:p>
            <a:pPr indent="0" marL="0">
              <a:buNone/>
            </a:pPr>
            <a:r>
              <a:rPr lang="en-US" sz="1350" b="1" dirty="0">
                <a:solidFill>
                  <a:srgbClr val="8A2E24"/>
                </a:solidFill>
                <a:latin typeface="Cambria" pitchFamily="34" charset="0"/>
                <a:ea typeface="Cambria" pitchFamily="34" charset="-122"/>
                <a:cs typeface="Cambria" pitchFamily="34" charset="-120"/>
              </a:rPr>
              <a:t>Rào cản pháp lý về dữ liệu</a:t>
            </a:r>
            <a:endParaRPr lang="en-US" sz="1350" dirty="0"/>
          </a:p>
        </p:txBody>
      </p:sp>
      <p:sp>
        <p:nvSpPr>
          <p:cNvPr id="9" name="Shape 7"/>
          <p:cNvSpPr/>
          <p:nvPr/>
        </p:nvSpPr>
        <p:spPr>
          <a:xfrm>
            <a:off x="10058400" y="1581912"/>
            <a:ext cx="1417320" cy="274320"/>
          </a:xfrm>
          <a:prstGeom prst="roundRect">
            <a:avLst>
              <a:gd name="adj" fmla="val 50000"/>
            </a:avLst>
          </a:prstGeom>
          <a:solidFill>
            <a:srgbClr val="B0453A"/>
          </a:solidFill>
          <a:ln/>
        </p:spPr>
      </p:sp>
      <p:sp>
        <p:nvSpPr>
          <p:cNvPr id="10" name="Text 8"/>
          <p:cNvSpPr/>
          <p:nvPr/>
        </p:nvSpPr>
        <p:spPr>
          <a:xfrm>
            <a:off x="10058400" y="1581912"/>
            <a:ext cx="1417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Đang kiểm chứng</a:t>
            </a:r>
            <a:endParaRPr lang="en-US" sz="800" dirty="0"/>
          </a:p>
        </p:txBody>
      </p:sp>
      <p:sp>
        <p:nvSpPr>
          <p:cNvPr id="11" name="Text 9"/>
          <p:cNvSpPr/>
          <p:nvPr/>
        </p:nvSpPr>
        <p:spPr>
          <a:xfrm>
            <a:off x="1280160" y="1883664"/>
            <a:ext cx="4206240" cy="960120"/>
          </a:xfrm>
          <a:prstGeom prst="rect">
            <a:avLst/>
          </a:prstGeom>
          <a:noFill/>
          <a:ln/>
        </p:spPr>
        <p:txBody>
          <a:bodyPr wrap="square" lIns="0" tIns="0" rIns="0" bIns="0" rtlCol="0" anchor="ctr"/>
          <a:lstStyle/>
          <a:p>
            <a:pPr indent="0" marL="0">
              <a:lnSpc>
                <a:spcPts val="1300"/>
              </a:lnSpc>
              <a:buNone/>
            </a:pPr>
            <a:r>
              <a:rPr lang="en-US" sz="950" dirty="0">
                <a:solidFill>
                  <a:srgbClr val="5A6B75"/>
                </a:solidFill>
                <a:latin typeface="Calibri" pitchFamily="34" charset="0"/>
                <a:ea typeface="Calibri" pitchFamily="34" charset="-122"/>
                <a:cs typeface="Calibri" pitchFamily="34" charset="-120"/>
              </a:rPr>
              <a:t>Hồ sơ hành chính chứa dữ liệu cá nhân hoặc có độ mật không được gửi ra máy chủ bên ngoài.</a:t>
            </a:r>
            <a:endParaRPr lang="en-US" sz="950" dirty="0"/>
          </a:p>
        </p:txBody>
      </p:sp>
      <p:sp>
        <p:nvSpPr>
          <p:cNvPr id="12" name="Text 10"/>
          <p:cNvSpPr/>
          <p:nvPr/>
        </p:nvSpPr>
        <p:spPr>
          <a:xfrm>
            <a:off x="5669280" y="1883664"/>
            <a:ext cx="5806440" cy="960120"/>
          </a:xfrm>
          <a:prstGeom prst="rect">
            <a:avLst/>
          </a:prstGeom>
          <a:noFill/>
          <a:ln/>
        </p:spPr>
        <p:txBody>
          <a:bodyPr wrap="square" lIns="0" tIns="0" rIns="0" bIns="0" rtlCol="0" anchor="ctr"/>
          <a:lstStyle/>
          <a:p>
            <a:pPr indent="0" marL="0">
              <a:lnSpc>
                <a:spcPts val="1300"/>
              </a:lnSpc>
              <a:buNone/>
            </a:pPr>
            <a:r>
              <a:rPr lang="en-US" sz="950" b="1" dirty="0">
                <a:solidFill>
                  <a:srgbClr val="8A2E24"/>
                </a:solidFill>
                <a:latin typeface="Calibri" pitchFamily="34" charset="0"/>
                <a:ea typeface="Calibri" pitchFamily="34" charset="-122"/>
                <a:cs typeface="Calibri" pitchFamily="34" charset="-120"/>
              </a:rPr>
              <a:t>Phương án xử lý: </a:t>
            </a:r>
            <a:pPr indent="0" marL="0">
              <a:lnSpc>
                <a:spcPts val="1300"/>
              </a:lnSpc>
              <a:buNone/>
            </a:pPr>
            <a:r>
              <a:rPr lang="en-US" sz="950" dirty="0">
                <a:solidFill>
                  <a:srgbClr val="4A5A64"/>
                </a:solidFill>
                <a:latin typeface="Calibri" pitchFamily="34" charset="0"/>
                <a:ea typeface="Calibri" pitchFamily="34" charset="-122"/>
                <a:cs typeface="Calibri" pitchFamily="34" charset="-120"/>
              </a:rPr>
              <a:t>Kiến trúc hai chế độ với mô hình mở chạy tại chỗ: dữ liệu không rời mạng nội bộ, chạy được cả khi ngắt Internet. Hai lưu ý: đây mới là đề xuất, chưa kiểm chứng; và phương án kỹ thuật không thay thế rà soát pháp lý.</a:t>
            </a:r>
            <a:endParaRPr lang="en-US" sz="950" dirty="0"/>
          </a:p>
        </p:txBody>
      </p:sp>
      <p:sp>
        <p:nvSpPr>
          <p:cNvPr id="13" name="Shape 11"/>
          <p:cNvSpPr/>
          <p:nvPr/>
        </p:nvSpPr>
        <p:spPr>
          <a:xfrm>
            <a:off x="502920" y="3090672"/>
            <a:ext cx="11155680" cy="1481328"/>
          </a:xfrm>
          <a:prstGeom prst="roundRect">
            <a:avLst>
              <a:gd name="adj" fmla="val 4321"/>
            </a:avLst>
          </a:prstGeom>
          <a:solidFill>
            <a:srgbClr val="F5F9FB"/>
          </a:solidFill>
          <a:ln/>
          <a:effectLst>
            <a:outerShdw sx="100000" sy="100000" kx="0" ky="0" algn="bl" rotWithShape="0" blurRad="76200" dist="19050" dir="5400000">
              <a:srgbClr val="9AAAB5">
                <a:alpha val="30000"/>
              </a:srgbClr>
            </a:outerShdw>
          </a:effectLst>
        </p:spPr>
      </p:sp>
      <p:sp>
        <p:nvSpPr>
          <p:cNvPr id="14" name="Shape 12"/>
          <p:cNvSpPr/>
          <p:nvPr/>
        </p:nvSpPr>
        <p:spPr>
          <a:xfrm>
            <a:off x="731520" y="3236976"/>
            <a:ext cx="420624" cy="420624"/>
          </a:xfrm>
          <a:prstGeom prst="ellipse">
            <a:avLst/>
          </a:prstGeom>
          <a:solidFill>
            <a:srgbClr val="065A82"/>
          </a:solidFill>
          <a:ln/>
        </p:spPr>
      </p:sp>
      <p:sp>
        <p:nvSpPr>
          <p:cNvPr id="15" name="Text 13"/>
          <p:cNvSpPr/>
          <p:nvPr/>
        </p:nvSpPr>
        <p:spPr>
          <a:xfrm>
            <a:off x="731520" y="323697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6" name="Text 14"/>
          <p:cNvSpPr/>
          <p:nvPr/>
        </p:nvSpPr>
        <p:spPr>
          <a:xfrm>
            <a:off x="1280160" y="3218688"/>
            <a:ext cx="3657600" cy="256032"/>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Ranh giới sản phẩm và dịch vụ</a:t>
            </a:r>
            <a:endParaRPr lang="en-US" sz="1350" dirty="0"/>
          </a:p>
        </p:txBody>
      </p:sp>
      <p:sp>
        <p:nvSpPr>
          <p:cNvPr id="17" name="Shape 15"/>
          <p:cNvSpPr/>
          <p:nvPr/>
        </p:nvSpPr>
        <p:spPr>
          <a:xfrm>
            <a:off x="10058400" y="3209544"/>
            <a:ext cx="1417320" cy="274320"/>
          </a:xfrm>
          <a:prstGeom prst="roundRect">
            <a:avLst>
              <a:gd name="adj" fmla="val 50000"/>
            </a:avLst>
          </a:prstGeom>
          <a:solidFill>
            <a:srgbClr val="D98E04"/>
          </a:solidFill>
          <a:ln/>
        </p:spPr>
      </p:sp>
      <p:sp>
        <p:nvSpPr>
          <p:cNvPr id="18" name="Text 16"/>
          <p:cNvSpPr/>
          <p:nvPr/>
        </p:nvSpPr>
        <p:spPr>
          <a:xfrm>
            <a:off x="10058400" y="3209544"/>
            <a:ext cx="1417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Trong lộ trình năm 1</a:t>
            </a:r>
            <a:endParaRPr lang="en-US" sz="800" dirty="0"/>
          </a:p>
        </p:txBody>
      </p:sp>
      <p:sp>
        <p:nvSpPr>
          <p:cNvPr id="19" name="Text 17"/>
          <p:cNvSpPr/>
          <p:nvPr/>
        </p:nvSpPr>
        <p:spPr>
          <a:xfrm>
            <a:off x="1280160" y="3511296"/>
            <a:ext cx="4206240" cy="960120"/>
          </a:xfrm>
          <a:prstGeom prst="rect">
            <a:avLst/>
          </a:prstGeom>
          <a:noFill/>
          <a:ln/>
        </p:spPr>
        <p:txBody>
          <a:bodyPr wrap="square" lIns="0" tIns="0" rIns="0" bIns="0" rtlCol="0" anchor="ctr"/>
          <a:lstStyle/>
          <a:p>
            <a:pPr indent="0" marL="0">
              <a:lnSpc>
                <a:spcPts val="1300"/>
              </a:lnSpc>
              <a:buNone/>
            </a:pPr>
            <a:r>
              <a:rPr lang="en-US" sz="950" dirty="0">
                <a:solidFill>
                  <a:srgbClr val="5A6B75"/>
                </a:solidFill>
                <a:latin typeface="Calibri" pitchFamily="34" charset="0"/>
                <a:ea typeface="Calibri" pitchFamily="34" charset="-122"/>
                <a:cs typeface="Calibri" pitchFamily="34" charset="-120"/>
              </a:rPr>
              <a:t>Mỗi đơn vị cần một lược đồ trích xuất riêng. Nếu đội phải tới cấu hình từng nơi thì không nhân rộng được.</a:t>
            </a:r>
            <a:endParaRPr lang="en-US" sz="950" dirty="0"/>
          </a:p>
        </p:txBody>
      </p:sp>
      <p:sp>
        <p:nvSpPr>
          <p:cNvPr id="20" name="Text 18"/>
          <p:cNvSpPr/>
          <p:nvPr/>
        </p:nvSpPr>
        <p:spPr>
          <a:xfrm>
            <a:off x="5669280" y="3511296"/>
            <a:ext cx="5806440" cy="960120"/>
          </a:xfrm>
          <a:prstGeom prst="rect">
            <a:avLst/>
          </a:prstGeom>
          <a:noFill/>
          <a:ln/>
        </p:spPr>
        <p:txBody>
          <a:bodyPr wrap="square" lIns="0" tIns="0" rIns="0" bIns="0" rtlCol="0" anchor="ctr"/>
          <a:lstStyle/>
          <a:p>
            <a:pPr indent="0" marL="0">
              <a:lnSpc>
                <a:spcPts val="1300"/>
              </a:lnSpc>
              <a:buNone/>
            </a:pPr>
            <a:r>
              <a:rPr lang="en-US" sz="950" b="1" dirty="0">
                <a:solidFill>
                  <a:srgbClr val="065A82"/>
                </a:solidFill>
                <a:latin typeface="Calibri" pitchFamily="34" charset="0"/>
                <a:ea typeface="Calibri" pitchFamily="34" charset="-122"/>
                <a:cs typeface="Calibri" pitchFamily="34" charset="-120"/>
              </a:rPr>
              <a:t>Phương án xử lý: </a:t>
            </a:r>
            <a:pPr indent="0" marL="0">
              <a:lnSpc>
                <a:spcPts val="1300"/>
              </a:lnSpc>
              <a:buNone/>
            </a:pPr>
            <a:r>
              <a:rPr lang="en-US" sz="950" dirty="0">
                <a:solidFill>
                  <a:srgbClr val="4A5A64"/>
                </a:solidFill>
                <a:latin typeface="Calibri" pitchFamily="34" charset="0"/>
                <a:ea typeface="Calibri" pitchFamily="34" charset="-122"/>
                <a:cs typeface="Calibri" pitchFamily="34" charset="-120"/>
              </a:rPr>
              <a:t>Xây giao diện cho phép quản trị viên tự định nghĩa lược đồ, không cần lập trình. Đây là ranh giới giữa sản phẩm nhân rộng được và công ty dịch vụ.</a:t>
            </a:r>
            <a:endParaRPr lang="en-US" sz="950" dirty="0"/>
          </a:p>
        </p:txBody>
      </p:sp>
      <p:sp>
        <p:nvSpPr>
          <p:cNvPr id="21" name="Shape 19"/>
          <p:cNvSpPr/>
          <p:nvPr/>
        </p:nvSpPr>
        <p:spPr>
          <a:xfrm>
            <a:off x="502920" y="4718304"/>
            <a:ext cx="11155680" cy="1481328"/>
          </a:xfrm>
          <a:prstGeom prst="roundRect">
            <a:avLst>
              <a:gd name="adj" fmla="val 4321"/>
            </a:avLst>
          </a:prstGeom>
          <a:solidFill>
            <a:srgbClr val="F5F9FB"/>
          </a:solidFill>
          <a:ln/>
          <a:effectLst>
            <a:outerShdw sx="100000" sy="100000" kx="0" ky="0" algn="bl" rotWithShape="0" blurRad="76200" dist="19050" dir="5400000">
              <a:srgbClr val="9AAAB5">
                <a:alpha val="30000"/>
              </a:srgbClr>
            </a:outerShdw>
          </a:effectLst>
        </p:spPr>
      </p:sp>
      <p:sp>
        <p:nvSpPr>
          <p:cNvPr id="22" name="Shape 20"/>
          <p:cNvSpPr/>
          <p:nvPr/>
        </p:nvSpPr>
        <p:spPr>
          <a:xfrm>
            <a:off x="731520" y="4864608"/>
            <a:ext cx="420624" cy="420624"/>
          </a:xfrm>
          <a:prstGeom prst="ellipse">
            <a:avLst/>
          </a:prstGeom>
          <a:solidFill>
            <a:srgbClr val="065A82"/>
          </a:solidFill>
          <a:ln/>
        </p:spPr>
      </p:sp>
      <p:sp>
        <p:nvSpPr>
          <p:cNvPr id="23" name="Text 21"/>
          <p:cNvSpPr/>
          <p:nvPr/>
        </p:nvSpPr>
        <p:spPr>
          <a:xfrm>
            <a:off x="731520" y="48646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24" name="Text 22"/>
          <p:cNvSpPr/>
          <p:nvPr/>
        </p:nvSpPr>
        <p:spPr>
          <a:xfrm>
            <a:off x="1280160" y="4846320"/>
            <a:ext cx="3657600" cy="256032"/>
          </a:xfrm>
          <a:prstGeom prst="rect">
            <a:avLst/>
          </a:prstGeom>
          <a:noFill/>
          <a:ln/>
        </p:spPr>
        <p:txBody>
          <a:bodyPr wrap="square" lIns="0" tIns="0" rIns="0" bIns="0" rtlCol="0" anchor="ctr"/>
          <a:lstStyle/>
          <a:p>
            <a:pPr indent="0" marL="0">
              <a:buNone/>
            </a:pPr>
            <a:r>
              <a:rPr lang="en-US" sz="1350" b="1" dirty="0">
                <a:solidFill>
                  <a:srgbClr val="21295C"/>
                </a:solidFill>
                <a:latin typeface="Cambria" pitchFamily="34" charset="0"/>
                <a:ea typeface="Cambria" pitchFamily="34" charset="-122"/>
                <a:cs typeface="Cambria" pitchFamily="34" charset="-120"/>
              </a:rPr>
              <a:t>Giấy phép mô hình mở</a:t>
            </a:r>
            <a:endParaRPr lang="en-US" sz="1350" dirty="0"/>
          </a:p>
        </p:txBody>
      </p:sp>
      <p:sp>
        <p:nvSpPr>
          <p:cNvPr id="25" name="Shape 23"/>
          <p:cNvSpPr/>
          <p:nvPr/>
        </p:nvSpPr>
        <p:spPr>
          <a:xfrm>
            <a:off x="10058400" y="4837176"/>
            <a:ext cx="1417320" cy="274320"/>
          </a:xfrm>
          <a:prstGeom prst="roundRect">
            <a:avLst>
              <a:gd name="adj" fmla="val 50000"/>
            </a:avLst>
          </a:prstGeom>
          <a:solidFill>
            <a:srgbClr val="1C7293"/>
          </a:solidFill>
          <a:ln/>
        </p:spPr>
      </p:sp>
      <p:sp>
        <p:nvSpPr>
          <p:cNvPr id="26" name="Text 24"/>
          <p:cNvSpPr/>
          <p:nvPr/>
        </p:nvSpPr>
        <p:spPr>
          <a:xfrm>
            <a:off x="10058400" y="4837176"/>
            <a:ext cx="1417320"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Bắt buộc trước khi ký</a:t>
            </a:r>
            <a:endParaRPr lang="en-US" sz="800" dirty="0"/>
          </a:p>
        </p:txBody>
      </p:sp>
      <p:sp>
        <p:nvSpPr>
          <p:cNvPr id="27" name="Text 25"/>
          <p:cNvSpPr/>
          <p:nvPr/>
        </p:nvSpPr>
        <p:spPr>
          <a:xfrm>
            <a:off x="1280160" y="5138928"/>
            <a:ext cx="4206240" cy="960120"/>
          </a:xfrm>
          <a:prstGeom prst="rect">
            <a:avLst/>
          </a:prstGeom>
          <a:noFill/>
          <a:ln/>
        </p:spPr>
        <p:txBody>
          <a:bodyPr wrap="square" lIns="0" tIns="0" rIns="0" bIns="0" rtlCol="0" anchor="ctr"/>
          <a:lstStyle/>
          <a:p>
            <a:pPr indent="0" marL="0">
              <a:lnSpc>
                <a:spcPts val="1300"/>
              </a:lnSpc>
              <a:buNone/>
            </a:pPr>
            <a:r>
              <a:rPr lang="en-US" sz="950" dirty="0">
                <a:solidFill>
                  <a:srgbClr val="5A6B75"/>
                </a:solidFill>
                <a:latin typeface="Calibri" pitchFamily="34" charset="0"/>
                <a:ea typeface="Calibri" pitchFamily="34" charset="-122"/>
                <a:cs typeface="Calibri" pitchFamily="34" charset="-120"/>
              </a:rPr>
              <a:t>"Nguồn mở" trong lĩnh vực mô hình ngôn ngữ thường chỉ nghĩa là trọng số được công bố — không đồng nghĩa với giấy phép cho phép thương mại tự do.</a:t>
            </a:r>
            <a:endParaRPr lang="en-US" sz="950" dirty="0"/>
          </a:p>
        </p:txBody>
      </p:sp>
      <p:sp>
        <p:nvSpPr>
          <p:cNvPr id="28" name="Text 26"/>
          <p:cNvSpPr/>
          <p:nvPr/>
        </p:nvSpPr>
        <p:spPr>
          <a:xfrm>
            <a:off x="5669280" y="5138928"/>
            <a:ext cx="5806440" cy="960120"/>
          </a:xfrm>
          <a:prstGeom prst="rect">
            <a:avLst/>
          </a:prstGeom>
          <a:noFill/>
          <a:ln/>
        </p:spPr>
        <p:txBody>
          <a:bodyPr wrap="square" lIns="0" tIns="0" rIns="0" bIns="0" rtlCol="0" anchor="ctr"/>
          <a:lstStyle/>
          <a:p>
            <a:pPr indent="0" marL="0">
              <a:lnSpc>
                <a:spcPts val="1300"/>
              </a:lnSpc>
              <a:buNone/>
            </a:pPr>
            <a:r>
              <a:rPr lang="en-US" sz="950" b="1" dirty="0">
                <a:solidFill>
                  <a:srgbClr val="065A82"/>
                </a:solidFill>
                <a:latin typeface="Calibri" pitchFamily="34" charset="0"/>
                <a:ea typeface="Calibri" pitchFamily="34" charset="-122"/>
                <a:cs typeface="Calibri" pitchFamily="34" charset="-120"/>
              </a:rPr>
              <a:t>Phương án xử lý: </a:t>
            </a:r>
            <a:pPr indent="0" marL="0">
              <a:lnSpc>
                <a:spcPts val="1300"/>
              </a:lnSpc>
              <a:buNone/>
            </a:pPr>
            <a:r>
              <a:rPr lang="en-US" sz="950" dirty="0">
                <a:solidFill>
                  <a:srgbClr val="4A5A64"/>
                </a:solidFill>
                <a:latin typeface="Calibri" pitchFamily="34" charset="0"/>
                <a:ea typeface="Calibri" pitchFamily="34" charset="-122"/>
                <a:cs typeface="Calibri" pitchFamily="34" charset="-120"/>
              </a:rPr>
              <a:t>Lập bảng đối chiếu giấy phép cho từng mô hình: đọc văn bản gốc trên trang phát hành, truy tới mô hình nền nếu là bản tinh chỉnh. Nguyên tắc: giấy phép trước, hiệu năng sau.</a:t>
            </a:r>
            <a:endParaRPr lang="en-US" sz="950" dirty="0"/>
          </a:p>
        </p:txBody>
      </p:sp>
      <p:sp>
        <p:nvSpPr>
          <p:cNvPr id="29" name="Text 27"/>
          <p:cNvSpPr/>
          <p:nvPr/>
        </p:nvSpPr>
        <p:spPr>
          <a:xfrm>
            <a:off x="502920" y="6382512"/>
            <a:ext cx="11155680" cy="274320"/>
          </a:xfrm>
          <a:prstGeom prst="rect">
            <a:avLst/>
          </a:prstGeom>
          <a:noFill/>
          <a:ln/>
        </p:spPr>
        <p:txBody>
          <a:bodyPr wrap="square" lIns="0" tIns="0" rIns="0" bIns="0" rtlCol="0" anchor="ctr"/>
          <a:lstStyle/>
          <a:p>
            <a:pPr indent="0" marL="0">
              <a:buNone/>
            </a:pPr>
            <a:r>
              <a:rPr lang="en-US" sz="1100" i="1" dirty="0">
                <a:solidFill>
                  <a:srgbClr val="065A82"/>
                </a:solidFill>
                <a:latin typeface="Calibri" pitchFamily="34" charset="0"/>
                <a:ea typeface="Calibri" pitchFamily="34" charset="-122"/>
                <a:cs typeface="Calibri" pitchFamily="34" charset="-120"/>
              </a:rPr>
              <a:t>Trong một cuộc thi tìm giải pháp thực chiến, sự trung thực về giới hạn chính là bằng chứng của tính thực chiến.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02920" y="310896"/>
            <a:ext cx="685800" cy="457200"/>
          </a:xfrm>
          <a:prstGeom prst="rect">
            <a:avLst/>
          </a:prstGeom>
          <a:noFill/>
          <a:ln/>
        </p:spPr>
        <p:txBody>
          <a:bodyPr wrap="square" lIns="0" tIns="0" rIns="0" bIns="0" rtlCol="0" anchor="ctr"/>
          <a:lstStyle/>
          <a:p>
            <a:pPr algn="l" indent="0" marL="0">
              <a:buNone/>
            </a:pPr>
            <a:r>
              <a:rPr lang="en-US" sz="2600" b="1" dirty="0">
                <a:solidFill>
                  <a:srgbClr val="1C7293"/>
                </a:solidFill>
                <a:latin typeface="Cambria" pitchFamily="34" charset="0"/>
                <a:ea typeface="Cambria" pitchFamily="34" charset="-122"/>
                <a:cs typeface="Cambria" pitchFamily="34" charset="-120"/>
              </a:rPr>
              <a:t>08</a:t>
            </a:r>
            <a:endParaRPr lang="en-US" sz="2600" dirty="0"/>
          </a:p>
        </p:txBody>
      </p:sp>
      <p:sp>
        <p:nvSpPr>
          <p:cNvPr id="3" name="Text 1"/>
          <p:cNvSpPr/>
          <p:nvPr/>
        </p:nvSpPr>
        <p:spPr>
          <a:xfrm>
            <a:off x="1143000" y="292608"/>
            <a:ext cx="10515600" cy="548640"/>
          </a:xfrm>
          <a:prstGeom prst="rect">
            <a:avLst/>
          </a:prstGeom>
          <a:noFill/>
          <a:ln/>
        </p:spPr>
        <p:txBody>
          <a:bodyPr wrap="square" lIns="0" tIns="0" rIns="0" bIns="0" rtlCol="0" anchor="ctr"/>
          <a:lstStyle/>
          <a:p>
            <a:pPr algn="l" indent="0" marL="0">
              <a:buNone/>
            </a:pPr>
            <a:r>
              <a:rPr lang="en-US" sz="3000" b="1" dirty="0">
                <a:solidFill>
                  <a:srgbClr val="21295C"/>
                </a:solidFill>
                <a:latin typeface="Cambria" pitchFamily="34" charset="0"/>
                <a:ea typeface="Cambria" pitchFamily="34" charset="-122"/>
                <a:cs typeface="Cambria" pitchFamily="34" charset="-120"/>
              </a:rPr>
              <a:t>Lộ trình phát triển</a:t>
            </a:r>
            <a:endParaRPr lang="en-US" sz="3000" dirty="0"/>
          </a:p>
        </p:txBody>
      </p:sp>
      <p:sp>
        <p:nvSpPr>
          <p:cNvPr id="4" name="Text 2"/>
          <p:cNvSpPr/>
          <p:nvPr/>
        </p:nvSpPr>
        <p:spPr>
          <a:xfrm>
            <a:off x="1143000" y="859536"/>
            <a:ext cx="10515600" cy="310896"/>
          </a:xfrm>
          <a:prstGeom prst="rect">
            <a:avLst/>
          </a:prstGeom>
          <a:noFill/>
          <a:ln/>
        </p:spPr>
        <p:txBody>
          <a:bodyPr wrap="square" lIns="0" tIns="0" rIns="0" bIns="0" rtlCol="0" anchor="ctr"/>
          <a:lstStyle/>
          <a:p>
            <a:pPr algn="l" indent="0" marL="0">
              <a:buNone/>
            </a:pPr>
            <a:r>
              <a:rPr lang="en-US" sz="1350" i="1" dirty="0">
                <a:solidFill>
                  <a:srgbClr val="5A6B75"/>
                </a:solidFill>
                <a:latin typeface="Calibri" pitchFamily="34" charset="0"/>
                <a:ea typeface="Calibri" pitchFamily="34" charset="-122"/>
                <a:cs typeface="Calibri" pitchFamily="34" charset="-120"/>
              </a:rPr>
              <a:t>Gắn với các mốc của cuộc thi</a:t>
            </a:r>
            <a:endParaRPr lang="en-US" sz="1350" dirty="0"/>
          </a:p>
        </p:txBody>
      </p:sp>
      <p:sp>
        <p:nvSpPr>
          <p:cNvPr id="5" name="Shape 3"/>
          <p:cNvSpPr/>
          <p:nvPr/>
        </p:nvSpPr>
        <p:spPr>
          <a:xfrm>
            <a:off x="502920" y="1536192"/>
            <a:ext cx="2048256" cy="402336"/>
          </a:xfrm>
          <a:prstGeom prst="roundRect">
            <a:avLst>
              <a:gd name="adj" fmla="val 50000"/>
            </a:avLst>
          </a:prstGeom>
          <a:solidFill>
            <a:srgbClr val="000000"/>
          </a:solidFill>
          <a:ln/>
        </p:spPr>
      </p:sp>
      <p:sp>
        <p:nvSpPr>
          <p:cNvPr id="6" name="Text 4"/>
          <p:cNvSpPr/>
          <p:nvPr/>
        </p:nvSpPr>
        <p:spPr>
          <a:xfrm>
            <a:off x="502920" y="1536192"/>
            <a:ext cx="204825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7/2026</a:t>
            </a:r>
            <a:endParaRPr lang="en-US" sz="1250" dirty="0"/>
          </a:p>
        </p:txBody>
      </p:sp>
      <p:sp>
        <p:nvSpPr>
          <p:cNvPr id="7" name="Text 5"/>
          <p:cNvSpPr/>
          <p:nvPr/>
        </p:nvSpPr>
        <p:spPr>
          <a:xfrm>
            <a:off x="502920" y="2048256"/>
            <a:ext cx="2048256" cy="274320"/>
          </a:xfrm>
          <a:prstGeom prst="rect">
            <a:avLst/>
          </a:prstGeom>
          <a:noFill/>
          <a:ln/>
        </p:spPr>
        <p:txBody>
          <a:bodyPr wrap="square" lIns="0" tIns="0" rIns="0" bIns="0" rtlCol="0" anchor="ctr"/>
          <a:lstStyle/>
          <a:p>
            <a:pPr algn="ctr" indent="0" marL="0">
              <a:buNone/>
            </a:pPr>
            <a:r>
              <a:rPr lang="en-US" sz="1200" b="1" dirty="0">
                <a:solidFill>
                  <a:srgbClr val="21295C"/>
                </a:solidFill>
                <a:latin typeface="Cambria" pitchFamily="34" charset="0"/>
                <a:ea typeface="Cambria" pitchFamily="34" charset="-122"/>
                <a:cs typeface="Cambria" pitchFamily="34" charset="-120"/>
              </a:rPr>
              <a:t>Chuẩn bị hồ sơ</a:t>
            </a:r>
            <a:endParaRPr lang="en-US" sz="1200" dirty="0"/>
          </a:p>
        </p:txBody>
      </p:sp>
      <p:sp>
        <p:nvSpPr>
          <p:cNvPr id="8" name="Shape 6"/>
          <p:cNvSpPr/>
          <p:nvPr/>
        </p:nvSpPr>
        <p:spPr>
          <a:xfrm>
            <a:off x="502920" y="2395728"/>
            <a:ext cx="2048256" cy="2286000"/>
          </a:xfrm>
          <a:prstGeom prst="roundRect">
            <a:avLst>
              <a:gd name="adj" fmla="val 3125"/>
            </a:avLst>
          </a:prstGeom>
          <a:solidFill>
            <a:srgbClr val="F5F9FB"/>
          </a:solidFill>
          <a:ln/>
          <a:effectLst>
            <a:outerShdw sx="100000" sy="100000" kx="0" ky="0" algn="bl" rotWithShape="0" blurRad="76200" dist="19050" dir="5400000">
              <a:srgbClr val="9AAAB5">
                <a:alpha val="30000"/>
              </a:srgbClr>
            </a:outerShdw>
          </a:effectLst>
        </p:spPr>
      </p:sp>
      <p:sp>
        <p:nvSpPr>
          <p:cNvPr id="9" name="Text 7"/>
          <p:cNvSpPr/>
          <p:nvPr/>
        </p:nvSpPr>
        <p:spPr>
          <a:xfrm>
            <a:off x="649224" y="2542032"/>
            <a:ext cx="1755648" cy="201168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Cấu hình lược đồ công văn hành chính</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Chạy thử trên tài liệu thật của Trường</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Kết xuất bộ số liệu thực chứng</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Quay video demo</a:t>
            </a:r>
            <a:endParaRPr lang="en-US" sz="950" dirty="0"/>
          </a:p>
        </p:txBody>
      </p:sp>
      <p:sp>
        <p:nvSpPr>
          <p:cNvPr id="10" name="Text 8"/>
          <p:cNvSpPr/>
          <p:nvPr/>
        </p:nvSpPr>
        <p:spPr>
          <a:xfrm>
            <a:off x="2551176" y="1572768"/>
            <a:ext cx="246888" cy="329184"/>
          </a:xfrm>
          <a:prstGeom prst="rect">
            <a:avLst/>
          </a:prstGeom>
          <a:noFill/>
          <a:ln/>
        </p:spPr>
        <p:txBody>
          <a:bodyPr wrap="square" lIns="0" tIns="0" rIns="0" bIns="0" rtlCol="0" anchor="ctr"/>
          <a:lstStyle/>
          <a:p>
            <a:pPr algn="ctr" indent="0" marL="0">
              <a:buNone/>
            </a:pPr>
            <a:r>
              <a:rPr lang="en-US" sz="1100" dirty="0">
                <a:solidFill>
                  <a:srgbClr val="1C7293"/>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2798064" y="1536192"/>
            <a:ext cx="2048256" cy="402336"/>
          </a:xfrm>
          <a:prstGeom prst="roundRect">
            <a:avLst>
              <a:gd name="adj" fmla="val 50000"/>
            </a:avLst>
          </a:prstGeom>
          <a:solidFill>
            <a:srgbClr val="000000"/>
          </a:solidFill>
          <a:ln/>
        </p:spPr>
      </p:sp>
      <p:sp>
        <p:nvSpPr>
          <p:cNvPr id="12" name="Text 10"/>
          <p:cNvSpPr/>
          <p:nvPr/>
        </p:nvSpPr>
        <p:spPr>
          <a:xfrm>
            <a:off x="2798064" y="1536192"/>
            <a:ext cx="204825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8/2026</a:t>
            </a:r>
            <a:endParaRPr lang="en-US" sz="1250" dirty="0"/>
          </a:p>
        </p:txBody>
      </p:sp>
      <p:sp>
        <p:nvSpPr>
          <p:cNvPr id="13" name="Text 11"/>
          <p:cNvSpPr/>
          <p:nvPr/>
        </p:nvSpPr>
        <p:spPr>
          <a:xfrm>
            <a:off x="2798064" y="2048256"/>
            <a:ext cx="2048256" cy="274320"/>
          </a:xfrm>
          <a:prstGeom prst="rect">
            <a:avLst/>
          </a:prstGeom>
          <a:noFill/>
          <a:ln/>
        </p:spPr>
        <p:txBody>
          <a:bodyPr wrap="square" lIns="0" tIns="0" rIns="0" bIns="0" rtlCol="0" anchor="ctr"/>
          <a:lstStyle/>
          <a:p>
            <a:pPr algn="ctr" indent="0" marL="0">
              <a:buNone/>
            </a:pPr>
            <a:r>
              <a:rPr lang="en-US" sz="1200" b="1" dirty="0">
                <a:solidFill>
                  <a:srgbClr val="21295C"/>
                </a:solidFill>
                <a:latin typeface="Cambria" pitchFamily="34" charset="0"/>
                <a:ea typeface="Cambria" pitchFamily="34" charset="-122"/>
                <a:cs typeface="Cambria" pitchFamily="34" charset="-120"/>
              </a:rPr>
              <a:t>Techfest Hải Phòng</a:t>
            </a:r>
            <a:endParaRPr lang="en-US" sz="1200" dirty="0"/>
          </a:p>
        </p:txBody>
      </p:sp>
      <p:sp>
        <p:nvSpPr>
          <p:cNvPr id="14" name="Shape 12"/>
          <p:cNvSpPr/>
          <p:nvPr/>
        </p:nvSpPr>
        <p:spPr>
          <a:xfrm>
            <a:off x="2798064" y="2395728"/>
            <a:ext cx="2048256" cy="2286000"/>
          </a:xfrm>
          <a:prstGeom prst="roundRect">
            <a:avLst>
              <a:gd name="adj" fmla="val 3125"/>
            </a:avLst>
          </a:prstGeom>
          <a:solidFill>
            <a:srgbClr val="F5F9FB"/>
          </a:solidFill>
          <a:ln/>
          <a:effectLst>
            <a:outerShdw sx="100000" sy="100000" kx="0" ky="0" algn="bl" rotWithShape="0" blurRad="76200" dist="19050" dir="5400000">
              <a:srgbClr val="9AAAB5">
                <a:alpha val="30000"/>
              </a:srgbClr>
            </a:outerShdw>
          </a:effectLst>
        </p:spPr>
      </p:sp>
      <p:sp>
        <p:nvSpPr>
          <p:cNvPr id="15" name="Text 13"/>
          <p:cNvSpPr/>
          <p:nvPr/>
        </p:nvSpPr>
        <p:spPr>
          <a:xfrm>
            <a:off x="2944368" y="2542032"/>
            <a:ext cx="1755648" cy="201168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Trình diễn sản phẩm tại Techfest (4–5/8)</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Thu thập phản hồi từ hệ sinh thái</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Kết nối đối tác tiềm năng</a:t>
            </a:r>
            <a:endParaRPr lang="en-US" sz="950" dirty="0"/>
          </a:p>
        </p:txBody>
      </p:sp>
      <p:sp>
        <p:nvSpPr>
          <p:cNvPr id="16" name="Text 14"/>
          <p:cNvSpPr/>
          <p:nvPr/>
        </p:nvSpPr>
        <p:spPr>
          <a:xfrm>
            <a:off x="4846320" y="1572768"/>
            <a:ext cx="246888" cy="329184"/>
          </a:xfrm>
          <a:prstGeom prst="rect">
            <a:avLst/>
          </a:prstGeom>
          <a:noFill/>
          <a:ln/>
        </p:spPr>
        <p:txBody>
          <a:bodyPr wrap="square" lIns="0" tIns="0" rIns="0" bIns="0" rtlCol="0" anchor="ctr"/>
          <a:lstStyle/>
          <a:p>
            <a:pPr algn="ctr" indent="0" marL="0">
              <a:buNone/>
            </a:pPr>
            <a:r>
              <a:rPr lang="en-US" sz="1100" dirty="0">
                <a:solidFill>
                  <a:srgbClr val="1C7293"/>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5093208" y="1536192"/>
            <a:ext cx="2048256" cy="402336"/>
          </a:xfrm>
          <a:prstGeom prst="roundRect">
            <a:avLst>
              <a:gd name="adj" fmla="val 50000"/>
            </a:avLst>
          </a:prstGeom>
          <a:solidFill>
            <a:srgbClr val="000000"/>
          </a:solidFill>
          <a:ln/>
        </p:spPr>
      </p:sp>
      <p:sp>
        <p:nvSpPr>
          <p:cNvPr id="18" name="Text 16"/>
          <p:cNvSpPr/>
          <p:nvPr/>
        </p:nvSpPr>
        <p:spPr>
          <a:xfrm>
            <a:off x="5093208" y="1536192"/>
            <a:ext cx="204825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9/2026</a:t>
            </a:r>
            <a:endParaRPr lang="en-US" sz="1250" dirty="0"/>
          </a:p>
        </p:txBody>
      </p:sp>
      <p:sp>
        <p:nvSpPr>
          <p:cNvPr id="19" name="Text 17"/>
          <p:cNvSpPr/>
          <p:nvPr/>
        </p:nvSpPr>
        <p:spPr>
          <a:xfrm>
            <a:off x="5093208" y="2048256"/>
            <a:ext cx="2048256" cy="274320"/>
          </a:xfrm>
          <a:prstGeom prst="rect">
            <a:avLst/>
          </a:prstGeom>
          <a:noFill/>
          <a:ln/>
        </p:spPr>
        <p:txBody>
          <a:bodyPr wrap="square" lIns="0" tIns="0" rIns="0" bIns="0" rtlCol="0" anchor="ctr"/>
          <a:lstStyle/>
          <a:p>
            <a:pPr algn="ctr" indent="0" marL="0">
              <a:buNone/>
            </a:pPr>
            <a:r>
              <a:rPr lang="en-US" sz="1200" b="1" dirty="0">
                <a:solidFill>
                  <a:srgbClr val="21295C"/>
                </a:solidFill>
                <a:latin typeface="Cambria" pitchFamily="34" charset="0"/>
                <a:ea typeface="Cambria" pitchFamily="34" charset="-122"/>
                <a:cs typeface="Cambria" pitchFamily="34" charset="-120"/>
              </a:rPr>
              <a:t>Vòng bán kết</a:t>
            </a:r>
            <a:endParaRPr lang="en-US" sz="1200" dirty="0"/>
          </a:p>
        </p:txBody>
      </p:sp>
      <p:sp>
        <p:nvSpPr>
          <p:cNvPr id="20" name="Shape 18"/>
          <p:cNvSpPr/>
          <p:nvPr/>
        </p:nvSpPr>
        <p:spPr>
          <a:xfrm>
            <a:off x="5093208" y="2395728"/>
            <a:ext cx="2048256" cy="2286000"/>
          </a:xfrm>
          <a:prstGeom prst="roundRect">
            <a:avLst>
              <a:gd name="adj" fmla="val 3125"/>
            </a:avLst>
          </a:prstGeom>
          <a:solidFill>
            <a:srgbClr val="F5F9FB"/>
          </a:solidFill>
          <a:ln/>
          <a:effectLst>
            <a:outerShdw sx="100000" sy="100000" kx="0" ky="0" algn="bl" rotWithShape="0" blurRad="76200" dist="19050" dir="5400000">
              <a:srgbClr val="9AAAB5">
                <a:alpha val="30000"/>
              </a:srgbClr>
            </a:outerShdw>
          </a:effectLst>
        </p:spPr>
      </p:sp>
      <p:sp>
        <p:nvSpPr>
          <p:cNvPr id="21" name="Text 19"/>
          <p:cNvSpPr/>
          <p:nvPr/>
        </p:nvSpPr>
        <p:spPr>
          <a:xfrm>
            <a:off x="5239512" y="2542032"/>
            <a:ext cx="1755648" cy="201168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Hoàn thiện chế độ chạy mô hình tại chỗ</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Bổ sung điểm tin cậy từng trường</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Chuẩn bị thuyết trình</a:t>
            </a:r>
            <a:endParaRPr lang="en-US" sz="950" dirty="0"/>
          </a:p>
        </p:txBody>
      </p:sp>
      <p:sp>
        <p:nvSpPr>
          <p:cNvPr id="22" name="Text 20"/>
          <p:cNvSpPr/>
          <p:nvPr/>
        </p:nvSpPr>
        <p:spPr>
          <a:xfrm>
            <a:off x="7141464" y="1572768"/>
            <a:ext cx="246888" cy="329184"/>
          </a:xfrm>
          <a:prstGeom prst="rect">
            <a:avLst/>
          </a:prstGeom>
          <a:noFill/>
          <a:ln/>
        </p:spPr>
        <p:txBody>
          <a:bodyPr wrap="square" lIns="0" tIns="0" rIns="0" bIns="0" rtlCol="0" anchor="ctr"/>
          <a:lstStyle/>
          <a:p>
            <a:pPr algn="ctr" indent="0" marL="0">
              <a:buNone/>
            </a:pPr>
            <a:r>
              <a:rPr lang="en-US" sz="1100" dirty="0">
                <a:solidFill>
                  <a:srgbClr val="1C7293"/>
                </a:solidFill>
                <a:latin typeface="Calibri" pitchFamily="34" charset="0"/>
                <a:ea typeface="Calibri" pitchFamily="34" charset="-122"/>
                <a:cs typeface="Calibri" pitchFamily="34" charset="-120"/>
              </a:rPr>
              <a:t>▶</a:t>
            </a:r>
            <a:endParaRPr lang="en-US" sz="1100" dirty="0"/>
          </a:p>
        </p:txBody>
      </p:sp>
      <p:sp>
        <p:nvSpPr>
          <p:cNvPr id="23" name="Shape 21"/>
          <p:cNvSpPr/>
          <p:nvPr/>
        </p:nvSpPr>
        <p:spPr>
          <a:xfrm>
            <a:off x="7388352" y="1536192"/>
            <a:ext cx="2048256" cy="402336"/>
          </a:xfrm>
          <a:prstGeom prst="roundRect">
            <a:avLst>
              <a:gd name="adj" fmla="val 50000"/>
            </a:avLst>
          </a:prstGeom>
          <a:solidFill>
            <a:srgbClr val="000000"/>
          </a:solidFill>
          <a:ln/>
        </p:spPr>
      </p:sp>
      <p:sp>
        <p:nvSpPr>
          <p:cNvPr id="24" name="Text 22"/>
          <p:cNvSpPr/>
          <p:nvPr/>
        </p:nvSpPr>
        <p:spPr>
          <a:xfrm>
            <a:off x="7388352" y="1536192"/>
            <a:ext cx="204825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10–11/2026</a:t>
            </a:r>
            <a:endParaRPr lang="en-US" sz="1250" dirty="0"/>
          </a:p>
        </p:txBody>
      </p:sp>
      <p:sp>
        <p:nvSpPr>
          <p:cNvPr id="25" name="Text 23"/>
          <p:cNvSpPr/>
          <p:nvPr/>
        </p:nvSpPr>
        <p:spPr>
          <a:xfrm>
            <a:off x="7388352" y="2048256"/>
            <a:ext cx="2048256" cy="274320"/>
          </a:xfrm>
          <a:prstGeom prst="rect">
            <a:avLst/>
          </a:prstGeom>
          <a:noFill/>
          <a:ln/>
        </p:spPr>
        <p:txBody>
          <a:bodyPr wrap="square" lIns="0" tIns="0" rIns="0" bIns="0" rtlCol="0" anchor="ctr"/>
          <a:lstStyle/>
          <a:p>
            <a:pPr algn="ctr" indent="0" marL="0">
              <a:buNone/>
            </a:pPr>
            <a:r>
              <a:rPr lang="en-US" sz="1200" b="1" dirty="0">
                <a:solidFill>
                  <a:srgbClr val="21295C"/>
                </a:solidFill>
                <a:latin typeface="Cambria" pitchFamily="34" charset="0"/>
                <a:ea typeface="Cambria" pitchFamily="34" charset="-122"/>
                <a:cs typeface="Cambria" pitchFamily="34" charset="-120"/>
              </a:rPr>
              <a:t>Vòng chung kết</a:t>
            </a:r>
            <a:endParaRPr lang="en-US" sz="1200" dirty="0"/>
          </a:p>
        </p:txBody>
      </p:sp>
      <p:sp>
        <p:nvSpPr>
          <p:cNvPr id="26" name="Shape 24"/>
          <p:cNvSpPr/>
          <p:nvPr/>
        </p:nvSpPr>
        <p:spPr>
          <a:xfrm>
            <a:off x="7388352" y="2395728"/>
            <a:ext cx="2048256" cy="2286000"/>
          </a:xfrm>
          <a:prstGeom prst="roundRect">
            <a:avLst>
              <a:gd name="adj" fmla="val 3125"/>
            </a:avLst>
          </a:prstGeom>
          <a:solidFill>
            <a:srgbClr val="F5F9FB"/>
          </a:solidFill>
          <a:ln/>
          <a:effectLst>
            <a:outerShdw sx="100000" sy="100000" kx="0" ky="0" algn="bl" rotWithShape="0" blurRad="76200" dist="19050" dir="5400000">
              <a:srgbClr val="9AAAB5">
                <a:alpha val="30000"/>
              </a:srgbClr>
            </a:outerShdw>
          </a:effectLst>
        </p:spPr>
      </p:sp>
      <p:sp>
        <p:nvSpPr>
          <p:cNvPr id="27" name="Text 25"/>
          <p:cNvSpPr/>
          <p:nvPr/>
        </p:nvSpPr>
        <p:spPr>
          <a:xfrm>
            <a:off x="7534656" y="2542032"/>
            <a:ext cx="1755648" cy="201168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Triển khai thí điểm tại đơn vị ngoài Trường</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Giao diện tự định nghĩa lược đồ</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Đăng ký quyền tác giả</a:t>
            </a:r>
            <a:endParaRPr lang="en-US" sz="950" dirty="0"/>
          </a:p>
        </p:txBody>
      </p:sp>
      <p:sp>
        <p:nvSpPr>
          <p:cNvPr id="28" name="Text 26"/>
          <p:cNvSpPr/>
          <p:nvPr/>
        </p:nvSpPr>
        <p:spPr>
          <a:xfrm>
            <a:off x="9436608" y="1572768"/>
            <a:ext cx="246888" cy="329184"/>
          </a:xfrm>
          <a:prstGeom prst="rect">
            <a:avLst/>
          </a:prstGeom>
          <a:noFill/>
          <a:ln/>
        </p:spPr>
        <p:txBody>
          <a:bodyPr wrap="square" lIns="0" tIns="0" rIns="0" bIns="0" rtlCol="0" anchor="ctr"/>
          <a:lstStyle/>
          <a:p>
            <a:pPr algn="ctr" indent="0" marL="0">
              <a:buNone/>
            </a:pPr>
            <a:r>
              <a:rPr lang="en-US" sz="1100" dirty="0">
                <a:solidFill>
                  <a:srgbClr val="1C7293"/>
                </a:solidFill>
                <a:latin typeface="Calibri" pitchFamily="34" charset="0"/>
                <a:ea typeface="Calibri" pitchFamily="34" charset="-122"/>
                <a:cs typeface="Calibri" pitchFamily="34" charset="-120"/>
              </a:rPr>
              <a:t>▶</a:t>
            </a:r>
            <a:endParaRPr lang="en-US" sz="1100" dirty="0"/>
          </a:p>
        </p:txBody>
      </p:sp>
      <p:sp>
        <p:nvSpPr>
          <p:cNvPr id="29" name="Shape 27"/>
          <p:cNvSpPr/>
          <p:nvPr/>
        </p:nvSpPr>
        <p:spPr>
          <a:xfrm>
            <a:off x="9683496" y="1536192"/>
            <a:ext cx="2048256" cy="402336"/>
          </a:xfrm>
          <a:prstGeom prst="roundRect">
            <a:avLst>
              <a:gd name="adj" fmla="val 50000"/>
            </a:avLst>
          </a:prstGeom>
          <a:solidFill>
            <a:srgbClr val="000000"/>
          </a:solidFill>
          <a:ln/>
        </p:spPr>
      </p:sp>
      <p:sp>
        <p:nvSpPr>
          <p:cNvPr id="30" name="Text 28"/>
          <p:cNvSpPr/>
          <p:nvPr/>
        </p:nvSpPr>
        <p:spPr>
          <a:xfrm>
            <a:off x="9683496" y="1536192"/>
            <a:ext cx="2048256" cy="402336"/>
          </a:xfrm>
          <a:prstGeom prst="rect">
            <a:avLst/>
          </a:prstGeom>
          <a:noFill/>
          <a:ln/>
        </p:spPr>
        <p:txBody>
          <a:bodyPr wrap="square" lIns="0" tIns="0" rIns="0" bIns="0" rtlCol="0" anchor="ctr"/>
          <a:lstStyle/>
          <a:p>
            <a:pPr algn="ctr" indent="0" marL="0">
              <a:buNone/>
            </a:pPr>
            <a:r>
              <a:rPr lang="en-US" sz="1250" b="1" dirty="0">
                <a:solidFill>
                  <a:srgbClr val="FFFFFF"/>
                </a:solidFill>
                <a:latin typeface="Cambria" pitchFamily="34" charset="0"/>
                <a:ea typeface="Cambria" pitchFamily="34" charset="-122"/>
                <a:cs typeface="Cambria" pitchFamily="34" charset="-120"/>
              </a:rPr>
              <a:t>2027+</a:t>
            </a:r>
            <a:endParaRPr lang="en-US" sz="1250" dirty="0"/>
          </a:p>
        </p:txBody>
      </p:sp>
      <p:sp>
        <p:nvSpPr>
          <p:cNvPr id="31" name="Text 29"/>
          <p:cNvSpPr/>
          <p:nvPr/>
        </p:nvSpPr>
        <p:spPr>
          <a:xfrm>
            <a:off x="9683496" y="2048256"/>
            <a:ext cx="2048256" cy="274320"/>
          </a:xfrm>
          <a:prstGeom prst="rect">
            <a:avLst/>
          </a:prstGeom>
          <a:noFill/>
          <a:ln/>
        </p:spPr>
        <p:txBody>
          <a:bodyPr wrap="square" lIns="0" tIns="0" rIns="0" bIns="0" rtlCol="0" anchor="ctr"/>
          <a:lstStyle/>
          <a:p>
            <a:pPr algn="ctr" indent="0" marL="0">
              <a:buNone/>
            </a:pPr>
            <a:r>
              <a:rPr lang="en-US" sz="1200" b="1" dirty="0">
                <a:solidFill>
                  <a:srgbClr val="21295C"/>
                </a:solidFill>
                <a:latin typeface="Cambria" pitchFamily="34" charset="0"/>
                <a:ea typeface="Cambria" pitchFamily="34" charset="-122"/>
                <a:cs typeface="Cambria" pitchFamily="34" charset="-120"/>
              </a:rPr>
              <a:t>Mở rộng</a:t>
            </a:r>
            <a:endParaRPr lang="en-US" sz="1200" dirty="0"/>
          </a:p>
        </p:txBody>
      </p:sp>
      <p:sp>
        <p:nvSpPr>
          <p:cNvPr id="32" name="Shape 30"/>
          <p:cNvSpPr/>
          <p:nvPr/>
        </p:nvSpPr>
        <p:spPr>
          <a:xfrm>
            <a:off x="9683496" y="2395728"/>
            <a:ext cx="2048256" cy="2286000"/>
          </a:xfrm>
          <a:prstGeom prst="roundRect">
            <a:avLst>
              <a:gd name="adj" fmla="val 3125"/>
            </a:avLst>
          </a:prstGeom>
          <a:solidFill>
            <a:srgbClr val="F5F9FB"/>
          </a:solidFill>
          <a:ln/>
          <a:effectLst>
            <a:outerShdw sx="100000" sy="100000" kx="0" ky="0" algn="bl" rotWithShape="0" blurRad="76200" dist="19050" dir="5400000">
              <a:srgbClr val="9AAAB5">
                <a:alpha val="30000"/>
              </a:srgbClr>
            </a:outerShdw>
          </a:effectLst>
        </p:spPr>
      </p:sp>
      <p:sp>
        <p:nvSpPr>
          <p:cNvPr id="33" name="Text 31"/>
          <p:cNvSpPr/>
          <p:nvPr/>
        </p:nvSpPr>
        <p:spPr>
          <a:xfrm>
            <a:off x="9829800" y="2542032"/>
            <a:ext cx="1755648" cy="201168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Kết nối chứng từ logistics</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Tinh chỉnh mô hình cho văn bản hành chính Việt Nam</a:t>
            </a:r>
            <a:endParaRPr lang="en-US" sz="950" dirty="0"/>
          </a:p>
          <a:p>
            <a:pPr marL="342900" indent="-342900">
              <a:lnSpc>
                <a:spcPts val="1300"/>
              </a:lnSpc>
              <a:spcAft>
                <a:spcPts val="600"/>
              </a:spcAft>
              <a:buSzPct val="100000"/>
              <a:buChar char="•"/>
            </a:pPr>
            <a:r>
              <a:rPr lang="en-US" sz="950" dirty="0">
                <a:solidFill>
                  <a:srgbClr val="4A5A64"/>
                </a:solidFill>
                <a:latin typeface="Calibri" pitchFamily="34" charset="0"/>
                <a:ea typeface="Calibri" pitchFamily="34" charset="-122"/>
                <a:cs typeface="Calibri" pitchFamily="34" charset="-120"/>
              </a:rPr>
              <a:t>Cung cấp dịch vụ qua API công khai</a:t>
            </a:r>
            <a:endParaRPr lang="en-US" sz="950" dirty="0"/>
          </a:p>
        </p:txBody>
      </p:sp>
      <p:sp>
        <p:nvSpPr>
          <p:cNvPr id="34" name="Shape 32"/>
          <p:cNvSpPr/>
          <p:nvPr/>
        </p:nvSpPr>
        <p:spPr>
          <a:xfrm>
            <a:off x="502920" y="4937760"/>
            <a:ext cx="11155680" cy="1188720"/>
          </a:xfrm>
          <a:prstGeom prst="roundRect">
            <a:avLst>
              <a:gd name="adj" fmla="val 5385"/>
            </a:avLst>
          </a:prstGeom>
          <a:solidFill>
            <a:srgbClr val="FDF6E8"/>
          </a:solidFill>
          <a:ln/>
          <a:effectLst>
            <a:outerShdw sx="100000" sy="100000" kx="0" ky="0" algn="bl" rotWithShape="0" blurRad="76200" dist="19050" dir="5400000">
              <a:srgbClr val="9AAAB5">
                <a:alpha val="30000"/>
              </a:srgbClr>
            </a:outerShdw>
          </a:effectLst>
        </p:spPr>
      </p:sp>
      <p:sp>
        <p:nvSpPr>
          <p:cNvPr id="35" name="Text 33"/>
          <p:cNvSpPr/>
          <p:nvPr/>
        </p:nvSpPr>
        <p:spPr>
          <a:xfrm>
            <a:off x="777240" y="5084064"/>
            <a:ext cx="10607040" cy="274320"/>
          </a:xfrm>
          <a:prstGeom prst="rect">
            <a:avLst/>
          </a:prstGeom>
          <a:noFill/>
          <a:ln/>
        </p:spPr>
        <p:txBody>
          <a:bodyPr wrap="square" lIns="0" tIns="0" rIns="0" bIns="0" rtlCol="0" anchor="ctr"/>
          <a:lstStyle/>
          <a:p>
            <a:pPr indent="0" marL="0">
              <a:buNone/>
            </a:pPr>
            <a:r>
              <a:rPr lang="en-US" sz="1350" b="1" dirty="0">
                <a:solidFill>
                  <a:srgbClr val="8A5D04"/>
                </a:solidFill>
                <a:latin typeface="Cambria" pitchFamily="34" charset="0"/>
                <a:ea typeface="Cambria" pitchFamily="34" charset="-122"/>
                <a:cs typeface="Cambria" pitchFamily="34" charset="-120"/>
              </a:rPr>
              <a:t>Cam kết nếu đạt giải</a:t>
            </a:r>
            <a:endParaRPr lang="en-US" sz="1350" dirty="0"/>
          </a:p>
        </p:txBody>
      </p:sp>
      <p:sp>
        <p:nvSpPr>
          <p:cNvPr id="36" name="Text 34"/>
          <p:cNvSpPr/>
          <p:nvPr/>
        </p:nvSpPr>
        <p:spPr>
          <a:xfrm>
            <a:off x="777240" y="5394960"/>
            <a:ext cx="10607040" cy="594360"/>
          </a:xfrm>
          <a:prstGeom prst="rect">
            <a:avLst/>
          </a:prstGeom>
          <a:noFill/>
          <a:ln/>
        </p:spPr>
        <p:txBody>
          <a:bodyPr wrap="square" lIns="0" tIns="0" rIns="0" bIns="0" rtlCol="0" anchor="ctr"/>
          <a:lstStyle/>
          <a:p>
            <a:pPr indent="0" marL="0">
              <a:lnSpc>
                <a:spcPts val="1600"/>
              </a:lnSpc>
              <a:buNone/>
            </a:pPr>
            <a:r>
              <a:rPr lang="en-US" sz="1100" dirty="0">
                <a:solidFill>
                  <a:srgbClr val="6B5416"/>
                </a:solidFill>
                <a:latin typeface="Calibri" pitchFamily="34" charset="0"/>
                <a:ea typeface="Calibri" pitchFamily="34" charset="-122"/>
                <a:cs typeface="Calibri" pitchFamily="34" charset="-120"/>
              </a:rPr>
              <a:t>Triển khai, hoàn thiện và ứng dụng giải pháp thực tiễn tại Hải Phòng tối thiểu 06 tháng kể từ ngày nhận giải — theo đúng yêu cầu của Ban tổ chức. Đơn vị chủ trì là một trường đại học đã hoạt động 30 năm tại Hải Phòng, có hạ tầng và trách nhiệm giải trình để bảo đảm tính liên tục.</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1295C"/>
        </a:solidFill>
      </p:bgPr>
    </p:bg>
    <p:spTree>
      <p:nvGrpSpPr>
        <p:cNvPr id="1" name=""/>
        <p:cNvGrpSpPr/>
        <p:nvPr/>
      </p:nvGrpSpPr>
      <p:grpSpPr>
        <a:xfrm>
          <a:off x="0" y="0"/>
          <a:ext cx="0" cy="0"/>
          <a:chOff x="0" y="0"/>
          <a:chExt cx="0" cy="0"/>
        </a:xfrm>
      </p:grpSpPr>
      <p:sp>
        <p:nvSpPr>
          <p:cNvPr id="2" name="Shape 0"/>
          <p:cNvSpPr/>
          <p:nvPr/>
        </p:nvSpPr>
        <p:spPr>
          <a:xfrm>
            <a:off x="9326880" y="3657600"/>
            <a:ext cx="5029200" cy="5029200"/>
          </a:xfrm>
          <a:prstGeom prst="ellipse">
            <a:avLst/>
          </a:prstGeom>
          <a:solidFill>
            <a:srgbClr val="065A82">
              <a:alpha val="50000"/>
            </a:srgbClr>
          </a:solidFill>
          <a:ln/>
        </p:spPr>
      </p:sp>
      <p:sp>
        <p:nvSpPr>
          <p:cNvPr id="3" name="Text 1"/>
          <p:cNvSpPr/>
          <p:nvPr/>
        </p:nvSpPr>
        <p:spPr>
          <a:xfrm>
            <a:off x="502920" y="310896"/>
            <a:ext cx="685800" cy="457200"/>
          </a:xfrm>
          <a:prstGeom prst="rect">
            <a:avLst/>
          </a:prstGeom>
          <a:noFill/>
          <a:ln/>
        </p:spPr>
        <p:txBody>
          <a:bodyPr wrap="square" lIns="0" tIns="0" rIns="0" bIns="0" rtlCol="0" anchor="ctr"/>
          <a:lstStyle/>
          <a:p>
            <a:pPr indent="0" marL="0">
              <a:buNone/>
            </a:pPr>
            <a:r>
              <a:rPr lang="en-US" sz="2600" b="1" dirty="0">
                <a:solidFill>
                  <a:srgbClr val="1C7293"/>
                </a:solidFill>
                <a:latin typeface="Cambria" pitchFamily="34" charset="0"/>
                <a:ea typeface="Cambria" pitchFamily="34" charset="-122"/>
                <a:cs typeface="Cambria" pitchFamily="34" charset="-120"/>
              </a:rPr>
              <a:t>09</a:t>
            </a:r>
            <a:endParaRPr lang="en-US" sz="2600" dirty="0"/>
          </a:p>
        </p:txBody>
      </p:sp>
      <p:sp>
        <p:nvSpPr>
          <p:cNvPr id="4" name="Text 2"/>
          <p:cNvSpPr/>
          <p:nvPr/>
        </p:nvSpPr>
        <p:spPr>
          <a:xfrm>
            <a:off x="1143000" y="292608"/>
            <a:ext cx="10515600" cy="54864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Đội ngũ và đơn vị chủ trì</a:t>
            </a:r>
            <a:endParaRPr lang="en-US" sz="3000" dirty="0"/>
          </a:p>
        </p:txBody>
      </p:sp>
      <p:sp>
        <p:nvSpPr>
          <p:cNvPr id="5" name="Shape 3"/>
          <p:cNvSpPr/>
          <p:nvPr/>
        </p:nvSpPr>
        <p:spPr>
          <a:xfrm>
            <a:off x="502920" y="1234440"/>
            <a:ext cx="5394960" cy="1234440"/>
          </a:xfrm>
          <a:prstGeom prst="roundRect">
            <a:avLst>
              <a:gd name="adj" fmla="val 5185"/>
            </a:avLst>
          </a:prstGeom>
          <a:solidFill>
            <a:srgbClr val="2A3260"/>
          </a:solidFill>
          <a:ln/>
        </p:spPr>
      </p:sp>
      <p:sp>
        <p:nvSpPr>
          <p:cNvPr id="6" name="Shape 4"/>
          <p:cNvSpPr/>
          <p:nvPr/>
        </p:nvSpPr>
        <p:spPr>
          <a:xfrm>
            <a:off x="704088" y="1435608"/>
            <a:ext cx="548640" cy="548640"/>
          </a:xfrm>
          <a:prstGeom prst="ellipse">
            <a:avLst/>
          </a:prstGeom>
          <a:solidFill>
            <a:srgbClr val="1C7293"/>
          </a:solidFill>
          <a:ln/>
        </p:spPr>
      </p:sp>
      <p:sp>
        <p:nvSpPr>
          <p:cNvPr id="7" name="Text 5"/>
          <p:cNvSpPr/>
          <p:nvPr/>
        </p:nvSpPr>
        <p:spPr>
          <a:xfrm>
            <a:off x="704088" y="14356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t>
            </a:r>
            <a:endParaRPr lang="en-US" sz="2000" dirty="0"/>
          </a:p>
        </p:txBody>
      </p:sp>
      <p:sp>
        <p:nvSpPr>
          <p:cNvPr id="8" name="Text 6"/>
          <p:cNvSpPr/>
          <p:nvPr/>
        </p:nvSpPr>
        <p:spPr>
          <a:xfrm>
            <a:off x="1371600" y="1399032"/>
            <a:ext cx="4297680" cy="237744"/>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Trần Hữu Trung</a:t>
            </a:r>
            <a:endParaRPr lang="en-US" sz="1350" dirty="0"/>
          </a:p>
        </p:txBody>
      </p:sp>
      <p:sp>
        <p:nvSpPr>
          <p:cNvPr id="9" name="Text 7"/>
          <p:cNvSpPr/>
          <p:nvPr/>
        </p:nvSpPr>
        <p:spPr>
          <a:xfrm>
            <a:off x="1371600" y="1655064"/>
            <a:ext cx="4297680" cy="201168"/>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Trưởng nhóm – Chủ nhiệm dự án</a:t>
            </a:r>
            <a:endParaRPr lang="en-US" sz="1000" dirty="0"/>
          </a:p>
        </p:txBody>
      </p:sp>
      <p:sp>
        <p:nvSpPr>
          <p:cNvPr id="10" name="Text 8"/>
          <p:cNvSpPr/>
          <p:nvPr/>
        </p:nvSpPr>
        <p:spPr>
          <a:xfrm>
            <a:off x="1371600" y="1874520"/>
            <a:ext cx="4297680" cy="502920"/>
          </a:xfrm>
          <a:prstGeom prst="rect">
            <a:avLst/>
          </a:prstGeom>
          <a:noFill/>
          <a:ln/>
        </p:spPr>
        <p:txBody>
          <a:bodyPr wrap="square" lIns="0" tIns="0" rIns="0" bIns="0" rtlCol="0" anchor="ctr"/>
          <a:lstStyle/>
          <a:p>
            <a:pPr indent="0" marL="0">
              <a:lnSpc>
                <a:spcPts val="1200"/>
              </a:lnSpc>
              <a:buNone/>
            </a:pPr>
            <a:r>
              <a:rPr lang="en-US" sz="900" dirty="0">
                <a:solidFill>
                  <a:srgbClr val="9AAECC"/>
                </a:solidFill>
                <a:latin typeface="Calibri" pitchFamily="34" charset="0"/>
                <a:ea typeface="Calibri" pitchFamily="34" charset="-122"/>
                <a:cs typeface="Calibri" pitchFamily="34" charset="-120"/>
              </a:rPr>
              <a:t>Thạc sĩ Điện tử viễn thông. Phó Hiệu trưởng phụ trách Hành chính và Nội vụ; Giám đốc SCEI. Định hướng sản phẩm, quan hệ đối tác, bảo đảm nguồn lực.</a:t>
            </a:r>
            <a:endParaRPr lang="en-US" sz="900" dirty="0"/>
          </a:p>
        </p:txBody>
      </p:sp>
      <p:sp>
        <p:nvSpPr>
          <p:cNvPr id="11" name="Shape 9"/>
          <p:cNvSpPr/>
          <p:nvPr/>
        </p:nvSpPr>
        <p:spPr>
          <a:xfrm>
            <a:off x="6263640" y="1234440"/>
            <a:ext cx="5394960" cy="1234440"/>
          </a:xfrm>
          <a:prstGeom prst="roundRect">
            <a:avLst>
              <a:gd name="adj" fmla="val 5185"/>
            </a:avLst>
          </a:prstGeom>
          <a:solidFill>
            <a:srgbClr val="2A3260"/>
          </a:solidFill>
          <a:ln/>
        </p:spPr>
      </p:sp>
      <p:sp>
        <p:nvSpPr>
          <p:cNvPr id="12" name="Shape 10"/>
          <p:cNvSpPr/>
          <p:nvPr/>
        </p:nvSpPr>
        <p:spPr>
          <a:xfrm>
            <a:off x="6464808" y="1435608"/>
            <a:ext cx="548640" cy="548640"/>
          </a:xfrm>
          <a:prstGeom prst="ellipse">
            <a:avLst/>
          </a:prstGeom>
          <a:solidFill>
            <a:srgbClr val="1C7293"/>
          </a:solidFill>
          <a:ln/>
        </p:spPr>
      </p:sp>
      <p:sp>
        <p:nvSpPr>
          <p:cNvPr id="13" name="Text 11"/>
          <p:cNvSpPr/>
          <p:nvPr/>
        </p:nvSpPr>
        <p:spPr>
          <a:xfrm>
            <a:off x="6464808" y="143560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N</a:t>
            </a:r>
            <a:endParaRPr lang="en-US" sz="2000" dirty="0"/>
          </a:p>
        </p:txBody>
      </p:sp>
      <p:sp>
        <p:nvSpPr>
          <p:cNvPr id="14" name="Text 12"/>
          <p:cNvSpPr/>
          <p:nvPr/>
        </p:nvSpPr>
        <p:spPr>
          <a:xfrm>
            <a:off x="7132320" y="1399032"/>
            <a:ext cx="4297680" cy="237744"/>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Đào Anh Ngọc</a:t>
            </a:r>
            <a:endParaRPr lang="en-US" sz="1350" dirty="0"/>
          </a:p>
        </p:txBody>
      </p:sp>
      <p:sp>
        <p:nvSpPr>
          <p:cNvPr id="15" name="Text 13"/>
          <p:cNvSpPr/>
          <p:nvPr/>
        </p:nvSpPr>
        <p:spPr>
          <a:xfrm>
            <a:off x="7132320" y="1655064"/>
            <a:ext cx="4297680" cy="201168"/>
          </a:xfrm>
          <a:prstGeom prst="rect">
            <a:avLst/>
          </a:prstGeom>
          <a:noFill/>
          <a:ln/>
        </p:spPr>
        <p:txBody>
          <a:bodyPr wrap="square" lIns="0" tIns="0" rIns="0" bIns="0" rtlCol="0" anchor="ctr"/>
          <a:lstStyle/>
          <a:p>
            <a:pPr indent="0" marL="0">
              <a:buNone/>
            </a:pPr>
            <a:r>
              <a:rPr lang="en-US" sz="1000" b="1" dirty="0">
                <a:solidFill>
                  <a:srgbClr val="1C7293"/>
                </a:solidFill>
                <a:latin typeface="Calibri" pitchFamily="34" charset="0"/>
                <a:ea typeface="Calibri" pitchFamily="34" charset="-122"/>
                <a:cs typeface="Calibri" pitchFamily="34" charset="-120"/>
              </a:rPr>
              <a:t>Phụ trách kỹ thuật</a:t>
            </a:r>
            <a:endParaRPr lang="en-US" sz="1000" dirty="0"/>
          </a:p>
        </p:txBody>
      </p:sp>
      <p:sp>
        <p:nvSpPr>
          <p:cNvPr id="16" name="Text 14"/>
          <p:cNvSpPr/>
          <p:nvPr/>
        </p:nvSpPr>
        <p:spPr>
          <a:xfrm>
            <a:off x="7132320" y="1874520"/>
            <a:ext cx="4297680" cy="502920"/>
          </a:xfrm>
          <a:prstGeom prst="rect">
            <a:avLst/>
          </a:prstGeom>
          <a:noFill/>
          <a:ln/>
        </p:spPr>
        <p:txBody>
          <a:bodyPr wrap="square" lIns="0" tIns="0" rIns="0" bIns="0" rtlCol="0" anchor="ctr"/>
          <a:lstStyle/>
          <a:p>
            <a:pPr indent="0" marL="0">
              <a:lnSpc>
                <a:spcPts val="1200"/>
              </a:lnSpc>
              <a:buNone/>
            </a:pPr>
            <a:r>
              <a:rPr lang="en-US" sz="900" dirty="0">
                <a:solidFill>
                  <a:srgbClr val="9AAECC"/>
                </a:solidFill>
                <a:latin typeface="Calibri" pitchFamily="34" charset="0"/>
                <a:ea typeface="Calibri" pitchFamily="34" charset="-122"/>
                <a:cs typeface="Calibri" pitchFamily="34" charset="-120"/>
              </a:rPr>
              <a:t>Tác giả trực tiếp xây dựng hệ thống (2025). Kiến trúc và phát triển. Chuyên môn về chuẩn metadata và hệ thống thư viện số.</a:t>
            </a:r>
            <a:endParaRPr lang="en-US" sz="900" dirty="0"/>
          </a:p>
        </p:txBody>
      </p:sp>
      <p:sp>
        <p:nvSpPr>
          <p:cNvPr id="17" name="Shape 15"/>
          <p:cNvSpPr/>
          <p:nvPr/>
        </p:nvSpPr>
        <p:spPr>
          <a:xfrm>
            <a:off x="502920" y="2651760"/>
            <a:ext cx="5394960" cy="1234440"/>
          </a:xfrm>
          <a:prstGeom prst="roundRect">
            <a:avLst>
              <a:gd name="adj" fmla="val 5185"/>
            </a:avLst>
          </a:prstGeom>
          <a:solidFill>
            <a:srgbClr val="2A3260"/>
          </a:solidFill>
          <a:ln/>
        </p:spPr>
      </p:sp>
      <p:sp>
        <p:nvSpPr>
          <p:cNvPr id="18" name="Shape 16"/>
          <p:cNvSpPr/>
          <p:nvPr/>
        </p:nvSpPr>
        <p:spPr>
          <a:xfrm>
            <a:off x="704088" y="2852928"/>
            <a:ext cx="548640" cy="548640"/>
          </a:xfrm>
          <a:prstGeom prst="ellipse">
            <a:avLst/>
          </a:prstGeom>
          <a:solidFill>
            <a:srgbClr val="1C7293"/>
          </a:solidFill>
          <a:ln/>
        </p:spPr>
      </p:sp>
      <p:sp>
        <p:nvSpPr>
          <p:cNvPr id="19" name="Text 17"/>
          <p:cNvSpPr/>
          <p:nvPr/>
        </p:nvSpPr>
        <p:spPr>
          <a:xfrm>
            <a:off x="704088" y="285292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T</a:t>
            </a:r>
            <a:endParaRPr lang="en-US" sz="2000" dirty="0"/>
          </a:p>
        </p:txBody>
      </p:sp>
      <p:sp>
        <p:nvSpPr>
          <p:cNvPr id="20" name="Text 18"/>
          <p:cNvSpPr/>
          <p:nvPr/>
        </p:nvSpPr>
        <p:spPr>
          <a:xfrm>
            <a:off x="1371600" y="2816352"/>
            <a:ext cx="4297680" cy="237744"/>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Đỗ Văn Tuyên</a:t>
            </a:r>
            <a:endParaRPr lang="en-US" sz="1350" dirty="0"/>
          </a:p>
        </p:txBody>
      </p:sp>
      <p:sp>
        <p:nvSpPr>
          <p:cNvPr id="21" name="Text 19"/>
          <p:cNvSpPr/>
          <p:nvPr/>
        </p:nvSpPr>
        <p:spPr>
          <a:xfrm>
            <a:off x="1371600" y="3072384"/>
            <a:ext cx="4297680" cy="201168"/>
          </a:xfrm>
          <a:prstGeom prst="rect">
            <a:avLst/>
          </a:prstGeom>
          <a:noFill/>
          <a:ln/>
        </p:spPr>
        <p:txBody>
          <a:bodyPr wrap="square" lIns="0" tIns="0" rIns="0" bIns="0" rtlCol="0" anchor="ctr"/>
          <a:lstStyle/>
          <a:p>
            <a:pPr indent="0" marL="0">
              <a:buNone/>
            </a:pPr>
            <a:r>
              <a:rPr lang="en-US" sz="1000" b="1" dirty="0">
                <a:solidFill>
                  <a:srgbClr val="D98E04"/>
                </a:solidFill>
                <a:latin typeface="Calibri" pitchFamily="34" charset="0"/>
                <a:ea typeface="Calibri" pitchFamily="34" charset="-122"/>
                <a:cs typeface="Calibri" pitchFamily="34" charset="-120"/>
              </a:rPr>
              <a:t>[cần điền]</a:t>
            </a:r>
            <a:endParaRPr lang="en-US" sz="1000" dirty="0"/>
          </a:p>
        </p:txBody>
      </p:sp>
      <p:sp>
        <p:nvSpPr>
          <p:cNvPr id="22" name="Text 20"/>
          <p:cNvSpPr/>
          <p:nvPr/>
        </p:nvSpPr>
        <p:spPr>
          <a:xfrm>
            <a:off x="1371600" y="3291840"/>
            <a:ext cx="4297680" cy="502920"/>
          </a:xfrm>
          <a:prstGeom prst="rect">
            <a:avLst/>
          </a:prstGeom>
          <a:noFill/>
          <a:ln/>
        </p:spPr>
        <p:txBody>
          <a:bodyPr wrap="square" lIns="0" tIns="0" rIns="0" bIns="0" rtlCol="0" anchor="ctr"/>
          <a:lstStyle/>
          <a:p>
            <a:pPr indent="0" marL="0">
              <a:lnSpc>
                <a:spcPts val="1200"/>
              </a:lnSpc>
              <a:buNone/>
            </a:pPr>
            <a:r>
              <a:rPr lang="en-US" sz="900" dirty="0">
                <a:solidFill>
                  <a:srgbClr val="D98E04"/>
                </a:solidFill>
                <a:latin typeface="Calibri" pitchFamily="34" charset="0"/>
                <a:ea typeface="Calibri" pitchFamily="34" charset="-122"/>
                <a:cs typeface="Calibri" pitchFamily="34" charset="-120"/>
              </a:rPr>
              <a:t>[cần điền]</a:t>
            </a:r>
            <a:endParaRPr lang="en-US" sz="900" dirty="0"/>
          </a:p>
        </p:txBody>
      </p:sp>
      <p:sp>
        <p:nvSpPr>
          <p:cNvPr id="23" name="Shape 21"/>
          <p:cNvSpPr/>
          <p:nvPr/>
        </p:nvSpPr>
        <p:spPr>
          <a:xfrm>
            <a:off x="6263640" y="2651760"/>
            <a:ext cx="5394960" cy="1234440"/>
          </a:xfrm>
          <a:prstGeom prst="roundRect">
            <a:avLst>
              <a:gd name="adj" fmla="val 5185"/>
            </a:avLst>
          </a:prstGeom>
          <a:solidFill>
            <a:srgbClr val="2A3260"/>
          </a:solidFill>
          <a:ln/>
        </p:spPr>
      </p:sp>
      <p:sp>
        <p:nvSpPr>
          <p:cNvPr id="24" name="Shape 22"/>
          <p:cNvSpPr/>
          <p:nvPr/>
        </p:nvSpPr>
        <p:spPr>
          <a:xfrm>
            <a:off x="6464808" y="2852928"/>
            <a:ext cx="548640" cy="548640"/>
          </a:xfrm>
          <a:prstGeom prst="ellipse">
            <a:avLst/>
          </a:prstGeom>
          <a:solidFill>
            <a:srgbClr val="1C7293"/>
          </a:solidFill>
          <a:ln/>
        </p:spPr>
      </p:sp>
      <p:sp>
        <p:nvSpPr>
          <p:cNvPr id="25" name="Text 23"/>
          <p:cNvSpPr/>
          <p:nvPr/>
        </p:nvSpPr>
        <p:spPr>
          <a:xfrm>
            <a:off x="6464808" y="2852928"/>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L</a:t>
            </a:r>
            <a:endParaRPr lang="en-US" sz="2000" dirty="0"/>
          </a:p>
        </p:txBody>
      </p:sp>
      <p:sp>
        <p:nvSpPr>
          <p:cNvPr id="26" name="Text 24"/>
          <p:cNvSpPr/>
          <p:nvPr/>
        </p:nvSpPr>
        <p:spPr>
          <a:xfrm>
            <a:off x="7132320" y="2816352"/>
            <a:ext cx="4297680" cy="237744"/>
          </a:xfrm>
          <a:prstGeom prst="rect">
            <a:avLst/>
          </a:prstGeom>
          <a:noFill/>
          <a:ln/>
        </p:spPr>
        <p:txBody>
          <a:bodyPr wrap="square" lIns="0" tIns="0" rIns="0" bIns="0" rtlCol="0" anchor="ctr"/>
          <a:lstStyle/>
          <a:p>
            <a:pPr indent="0" marL="0">
              <a:buNone/>
            </a:pPr>
            <a:r>
              <a:rPr lang="en-US" sz="1350" b="1" dirty="0">
                <a:solidFill>
                  <a:srgbClr val="FFFFFF"/>
                </a:solidFill>
                <a:latin typeface="Cambria" pitchFamily="34" charset="0"/>
                <a:ea typeface="Cambria" pitchFamily="34" charset="-122"/>
                <a:cs typeface="Cambria" pitchFamily="34" charset="-120"/>
              </a:rPr>
              <a:t>Nguyễn Tuấn Long</a:t>
            </a:r>
            <a:endParaRPr lang="en-US" sz="1350" dirty="0"/>
          </a:p>
        </p:txBody>
      </p:sp>
      <p:sp>
        <p:nvSpPr>
          <p:cNvPr id="27" name="Text 25"/>
          <p:cNvSpPr/>
          <p:nvPr/>
        </p:nvSpPr>
        <p:spPr>
          <a:xfrm>
            <a:off x="7132320" y="3072384"/>
            <a:ext cx="4297680" cy="201168"/>
          </a:xfrm>
          <a:prstGeom prst="rect">
            <a:avLst/>
          </a:prstGeom>
          <a:noFill/>
          <a:ln/>
        </p:spPr>
        <p:txBody>
          <a:bodyPr wrap="square" lIns="0" tIns="0" rIns="0" bIns="0" rtlCol="0" anchor="ctr"/>
          <a:lstStyle/>
          <a:p>
            <a:pPr indent="0" marL="0">
              <a:buNone/>
            </a:pPr>
            <a:r>
              <a:rPr lang="en-US" sz="1000" b="1" dirty="0">
                <a:solidFill>
                  <a:srgbClr val="D98E04"/>
                </a:solidFill>
                <a:latin typeface="Calibri" pitchFamily="34" charset="0"/>
                <a:ea typeface="Calibri" pitchFamily="34" charset="-122"/>
                <a:cs typeface="Calibri" pitchFamily="34" charset="-120"/>
              </a:rPr>
              <a:t>[cần điền]</a:t>
            </a:r>
            <a:endParaRPr lang="en-US" sz="1000" dirty="0"/>
          </a:p>
        </p:txBody>
      </p:sp>
      <p:sp>
        <p:nvSpPr>
          <p:cNvPr id="28" name="Text 26"/>
          <p:cNvSpPr/>
          <p:nvPr/>
        </p:nvSpPr>
        <p:spPr>
          <a:xfrm>
            <a:off x="7132320" y="3291840"/>
            <a:ext cx="4297680" cy="502920"/>
          </a:xfrm>
          <a:prstGeom prst="rect">
            <a:avLst/>
          </a:prstGeom>
          <a:noFill/>
          <a:ln/>
        </p:spPr>
        <p:txBody>
          <a:bodyPr wrap="square" lIns="0" tIns="0" rIns="0" bIns="0" rtlCol="0" anchor="ctr"/>
          <a:lstStyle/>
          <a:p>
            <a:pPr indent="0" marL="0">
              <a:lnSpc>
                <a:spcPts val="1200"/>
              </a:lnSpc>
              <a:buNone/>
            </a:pPr>
            <a:r>
              <a:rPr lang="en-US" sz="900" dirty="0">
                <a:solidFill>
                  <a:srgbClr val="D98E04"/>
                </a:solidFill>
                <a:latin typeface="Calibri" pitchFamily="34" charset="0"/>
                <a:ea typeface="Calibri" pitchFamily="34" charset="-122"/>
                <a:cs typeface="Calibri" pitchFamily="34" charset="-120"/>
              </a:rPr>
              <a:t>[cần điền]</a:t>
            </a:r>
            <a:endParaRPr lang="en-US" sz="900" dirty="0"/>
          </a:p>
        </p:txBody>
      </p:sp>
      <p:sp>
        <p:nvSpPr>
          <p:cNvPr id="29" name="Text 27"/>
          <p:cNvSpPr/>
          <p:nvPr/>
        </p:nvSpPr>
        <p:spPr>
          <a:xfrm>
            <a:off x="502920" y="4206240"/>
            <a:ext cx="5486400" cy="2743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Vì sao đội này</a:t>
            </a:r>
            <a:endParaRPr lang="en-US" sz="1600" dirty="0"/>
          </a:p>
        </p:txBody>
      </p:sp>
      <p:sp>
        <p:nvSpPr>
          <p:cNvPr id="30" name="Shape 28"/>
          <p:cNvSpPr/>
          <p:nvPr/>
        </p:nvSpPr>
        <p:spPr>
          <a:xfrm>
            <a:off x="502920" y="4572000"/>
            <a:ext cx="3611880" cy="1280160"/>
          </a:xfrm>
          <a:prstGeom prst="roundRect">
            <a:avLst>
              <a:gd name="adj" fmla="val 5000"/>
            </a:avLst>
          </a:prstGeom>
          <a:solidFill>
            <a:srgbClr val="2A3260"/>
          </a:solidFill>
          <a:ln/>
        </p:spPr>
      </p:sp>
      <p:sp>
        <p:nvSpPr>
          <p:cNvPr id="31" name="Text 29"/>
          <p:cNvSpPr/>
          <p:nvPr/>
        </p:nvSpPr>
        <p:spPr>
          <a:xfrm>
            <a:off x="704088" y="4718304"/>
            <a:ext cx="3200400" cy="457200"/>
          </a:xfrm>
          <a:prstGeom prst="rect">
            <a:avLst/>
          </a:prstGeom>
          <a:noFill/>
          <a:ln/>
        </p:spPr>
        <p:txBody>
          <a:bodyPr wrap="square" lIns="0" tIns="0" rIns="0" bIns="0" rtlCol="0" anchor="ctr"/>
          <a:lstStyle/>
          <a:p>
            <a:pPr indent="0" marL="0">
              <a:lnSpc>
                <a:spcPts val="1500"/>
              </a:lnSpc>
              <a:buNone/>
            </a:pPr>
            <a:r>
              <a:rPr lang="en-US" sz="1150" b="1" dirty="0">
                <a:solidFill>
                  <a:srgbClr val="D98E04"/>
                </a:solidFill>
                <a:latin typeface="Cambria" pitchFamily="34" charset="0"/>
                <a:ea typeface="Cambria" pitchFamily="34" charset="-122"/>
                <a:cs typeface="Cambria" pitchFamily="34" charset="-120"/>
              </a:rPr>
              <a:t>Có cả người quyết định và người thực thi</a:t>
            </a:r>
            <a:endParaRPr lang="en-US" sz="1150" dirty="0"/>
          </a:p>
        </p:txBody>
      </p:sp>
      <p:sp>
        <p:nvSpPr>
          <p:cNvPr id="32" name="Text 30"/>
          <p:cNvSpPr/>
          <p:nvPr/>
        </p:nvSpPr>
        <p:spPr>
          <a:xfrm>
            <a:off x="704088" y="5212080"/>
            <a:ext cx="3200400" cy="548640"/>
          </a:xfrm>
          <a:prstGeom prst="rect">
            <a:avLst/>
          </a:prstGeom>
          <a:noFill/>
          <a:ln/>
        </p:spPr>
        <p:txBody>
          <a:bodyPr wrap="square" lIns="0" tIns="0" rIns="0" bIns="0" rtlCol="0" anchor="ctr"/>
          <a:lstStyle/>
          <a:p>
            <a:pPr indent="0" marL="0">
              <a:lnSpc>
                <a:spcPts val="1300"/>
              </a:lnSpc>
              <a:buNone/>
            </a:pPr>
            <a:r>
              <a:rPr lang="en-US" sz="950" dirty="0">
                <a:solidFill>
                  <a:srgbClr val="9AAECC"/>
                </a:solidFill>
                <a:latin typeface="Calibri" pitchFamily="34" charset="0"/>
                <a:ea typeface="Calibri" pitchFamily="34" charset="-122"/>
                <a:cs typeface="Calibri" pitchFamily="34" charset="-120"/>
              </a:rPr>
              <a:t>Nhiều dự án chết vì người xây không có quyền, người có quyền không hiểu. Đội này không gặp vấn đề đó.</a:t>
            </a:r>
            <a:endParaRPr lang="en-US" sz="950" dirty="0"/>
          </a:p>
        </p:txBody>
      </p:sp>
      <p:sp>
        <p:nvSpPr>
          <p:cNvPr id="33" name="Shape 31"/>
          <p:cNvSpPr/>
          <p:nvPr/>
        </p:nvSpPr>
        <p:spPr>
          <a:xfrm>
            <a:off x="4306824" y="4572000"/>
            <a:ext cx="3611880" cy="1280160"/>
          </a:xfrm>
          <a:prstGeom prst="roundRect">
            <a:avLst>
              <a:gd name="adj" fmla="val 5000"/>
            </a:avLst>
          </a:prstGeom>
          <a:solidFill>
            <a:srgbClr val="2A3260"/>
          </a:solidFill>
          <a:ln/>
        </p:spPr>
      </p:sp>
      <p:sp>
        <p:nvSpPr>
          <p:cNvPr id="34" name="Text 32"/>
          <p:cNvSpPr/>
          <p:nvPr/>
        </p:nvSpPr>
        <p:spPr>
          <a:xfrm>
            <a:off x="4507992" y="4718304"/>
            <a:ext cx="3200400" cy="457200"/>
          </a:xfrm>
          <a:prstGeom prst="rect">
            <a:avLst/>
          </a:prstGeom>
          <a:noFill/>
          <a:ln/>
        </p:spPr>
        <p:txBody>
          <a:bodyPr wrap="square" lIns="0" tIns="0" rIns="0" bIns="0" rtlCol="0" anchor="ctr"/>
          <a:lstStyle/>
          <a:p>
            <a:pPr indent="0" marL="0">
              <a:lnSpc>
                <a:spcPts val="1500"/>
              </a:lnSpc>
              <a:buNone/>
            </a:pPr>
            <a:r>
              <a:rPr lang="en-US" sz="1150" b="1" dirty="0">
                <a:solidFill>
                  <a:srgbClr val="D98E04"/>
                </a:solidFill>
                <a:latin typeface="Cambria" pitchFamily="34" charset="0"/>
                <a:ea typeface="Cambria" pitchFamily="34" charset="-122"/>
                <a:cs typeface="Cambria" pitchFamily="34" charset="-120"/>
              </a:rPr>
              <a:t>Đã vượt rào cản thật một lần rồi</a:t>
            </a:r>
            <a:endParaRPr lang="en-US" sz="1150" dirty="0"/>
          </a:p>
        </p:txBody>
      </p:sp>
      <p:sp>
        <p:nvSpPr>
          <p:cNvPr id="35" name="Text 33"/>
          <p:cNvSpPr/>
          <p:nvPr/>
        </p:nvSpPr>
        <p:spPr>
          <a:xfrm>
            <a:off x="4507992" y="5212080"/>
            <a:ext cx="3200400" cy="548640"/>
          </a:xfrm>
          <a:prstGeom prst="rect">
            <a:avLst/>
          </a:prstGeom>
          <a:noFill/>
          <a:ln/>
        </p:spPr>
        <p:txBody>
          <a:bodyPr wrap="square" lIns="0" tIns="0" rIns="0" bIns="0" rtlCol="0" anchor="ctr"/>
          <a:lstStyle/>
          <a:p>
            <a:pPr indent="0" marL="0">
              <a:lnSpc>
                <a:spcPts val="1300"/>
              </a:lnSpc>
              <a:buNone/>
            </a:pPr>
            <a:r>
              <a:rPr lang="en-US" sz="950" dirty="0">
                <a:solidFill>
                  <a:srgbClr val="9AAECC"/>
                </a:solidFill>
                <a:latin typeface="Calibri" pitchFamily="34" charset="0"/>
                <a:ea typeface="Calibri" pitchFamily="34" charset="-122"/>
                <a:cs typeface="Calibri" pitchFamily="34" charset="-120"/>
              </a:rPr>
              <a:t>Rào cản không nằm ở công nghệ mà ở quy trình và con người — và đội đã đi qua tại Nhà trường.</a:t>
            </a:r>
            <a:endParaRPr lang="en-US" sz="950" dirty="0"/>
          </a:p>
        </p:txBody>
      </p:sp>
      <p:sp>
        <p:nvSpPr>
          <p:cNvPr id="36" name="Shape 34"/>
          <p:cNvSpPr/>
          <p:nvPr/>
        </p:nvSpPr>
        <p:spPr>
          <a:xfrm>
            <a:off x="8110728" y="4572000"/>
            <a:ext cx="3611880" cy="1280160"/>
          </a:xfrm>
          <a:prstGeom prst="roundRect">
            <a:avLst>
              <a:gd name="adj" fmla="val 5000"/>
            </a:avLst>
          </a:prstGeom>
          <a:solidFill>
            <a:srgbClr val="2A3260"/>
          </a:solidFill>
          <a:ln/>
        </p:spPr>
      </p:sp>
      <p:sp>
        <p:nvSpPr>
          <p:cNvPr id="37" name="Text 35"/>
          <p:cNvSpPr/>
          <p:nvPr/>
        </p:nvSpPr>
        <p:spPr>
          <a:xfrm>
            <a:off x="8311896" y="4718304"/>
            <a:ext cx="3200400" cy="457200"/>
          </a:xfrm>
          <a:prstGeom prst="rect">
            <a:avLst/>
          </a:prstGeom>
          <a:noFill/>
          <a:ln/>
        </p:spPr>
        <p:txBody>
          <a:bodyPr wrap="square" lIns="0" tIns="0" rIns="0" bIns="0" rtlCol="0" anchor="ctr"/>
          <a:lstStyle/>
          <a:p>
            <a:pPr indent="0" marL="0">
              <a:lnSpc>
                <a:spcPts val="1500"/>
              </a:lnSpc>
              <a:buNone/>
            </a:pPr>
            <a:r>
              <a:rPr lang="en-US" sz="1150" b="1" dirty="0">
                <a:solidFill>
                  <a:srgbClr val="D98E04"/>
                </a:solidFill>
                <a:latin typeface="Cambria" pitchFamily="34" charset="0"/>
                <a:ea typeface="Cambria" pitchFamily="34" charset="-122"/>
                <a:cs typeface="Cambria" pitchFamily="34" charset="-120"/>
              </a:rPr>
              <a:t>Đơn vị chủ trì ổn định, có mặt tại chỗ</a:t>
            </a:r>
            <a:endParaRPr lang="en-US" sz="1150" dirty="0"/>
          </a:p>
        </p:txBody>
      </p:sp>
      <p:sp>
        <p:nvSpPr>
          <p:cNvPr id="38" name="Text 36"/>
          <p:cNvSpPr/>
          <p:nvPr/>
        </p:nvSpPr>
        <p:spPr>
          <a:xfrm>
            <a:off x="8311896" y="5212080"/>
            <a:ext cx="3200400" cy="548640"/>
          </a:xfrm>
          <a:prstGeom prst="rect">
            <a:avLst/>
          </a:prstGeom>
          <a:noFill/>
          <a:ln/>
        </p:spPr>
        <p:txBody>
          <a:bodyPr wrap="square" lIns="0" tIns="0" rIns="0" bIns="0" rtlCol="0" anchor="ctr"/>
          <a:lstStyle/>
          <a:p>
            <a:pPr indent="0" marL="0">
              <a:lnSpc>
                <a:spcPts val="1300"/>
              </a:lnSpc>
              <a:buNone/>
            </a:pPr>
            <a:r>
              <a:rPr lang="en-US" sz="950" dirty="0">
                <a:solidFill>
                  <a:srgbClr val="9AAECC"/>
                </a:solidFill>
                <a:latin typeface="Calibri" pitchFamily="34" charset="0"/>
                <a:ea typeface="Calibri" pitchFamily="34" charset="-122"/>
                <a:cs typeface="Calibri" pitchFamily="34" charset="-120"/>
              </a:rPr>
              <a:t>Trường đại học 30 năm tại Hải Phòng: hạ tầng, trách nhiệm giải trình, hỗ trợ trực tiếp.</a:t>
            </a:r>
            <a:endParaRPr lang="en-US" sz="950" dirty="0"/>
          </a:p>
        </p:txBody>
      </p:sp>
      <p:sp>
        <p:nvSpPr>
          <p:cNvPr id="39" name="Text 37"/>
          <p:cNvSpPr/>
          <p:nvPr/>
        </p:nvSpPr>
        <p:spPr>
          <a:xfrm>
            <a:off x="502920" y="6080760"/>
            <a:ext cx="11155680" cy="274320"/>
          </a:xfrm>
          <a:prstGeom prst="rect">
            <a:avLst/>
          </a:prstGeom>
          <a:noFill/>
          <a:ln/>
        </p:spPr>
        <p:txBody>
          <a:bodyPr wrap="square" lIns="0" tIns="0" rIns="0" bIns="0" rtlCol="0" anchor="ctr"/>
          <a:lstStyle/>
          <a:p>
            <a:pPr indent="0" marL="0">
              <a:buNone/>
            </a:pPr>
            <a:r>
              <a:rPr lang="en-US" sz="1000" dirty="0">
                <a:solidFill>
                  <a:srgbClr val="6E7DA8"/>
                </a:solidFill>
                <a:latin typeface="Calibri" pitchFamily="34" charset="0"/>
                <a:ea typeface="Calibri" pitchFamily="34" charset="-122"/>
                <a:cs typeface="Calibri" pitchFamily="34" charset="-120"/>
              </a:rPr>
              <a:t>DocuFlow HP · Trường Đại học Quản lý và Công nghệ Hải Phòng · Trung tâm Hỗ trợ Khởi nghiệp và Đổi mới sáng tạo (SCEI)</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DocuFlow HP</dc:title>
  <dc:subject>PptxGenJS Presentation</dc:subject>
  <dc:creator>Truong Dai hoc Quan ly va Cong nghe Hai Phong</dc:creator>
  <cp:lastModifiedBy>Truong Dai hoc Quan ly va Cong nghe Hai Phong</cp:lastModifiedBy>
  <cp:revision>1</cp:revision>
  <dcterms:created xsi:type="dcterms:W3CDTF">2026-07-17T23:19:02Z</dcterms:created>
  <dcterms:modified xsi:type="dcterms:W3CDTF">2026-07-17T23:19:02Z</dcterms:modified>
</cp:coreProperties>
</file>